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1" r:id="rId3"/>
    <p:sldId id="262" r:id="rId4"/>
    <p:sldId id="263" r:id="rId5"/>
    <p:sldId id="260" r:id="rId6"/>
    <p:sldId id="257" r:id="rId7"/>
    <p:sldId id="258" r:id="rId8"/>
    <p:sldId id="259" r:id="rId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75" d="100"/>
          <a:sy n="75" d="100"/>
        </p:scale>
        <p:origin x="540"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94DC1-E436-46D9-8A79-8CCDA564C367}" type="datetimeFigureOut">
              <a:rPr lang="pt-BR" smtClean="0"/>
              <a:t>17/07/2026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DF578C-ED42-4F6C-BD62-E94C4D28A6EF}" type="slidenum">
              <a:rPr lang="pt-BR" smtClean="0"/>
              <a:t>‹nº›</a:t>
            </a:fld>
            <a:endParaRPr lang="pt-BR"/>
          </a:p>
        </p:txBody>
      </p:sp>
    </p:spTree>
    <p:extLst>
      <p:ext uri="{BB962C8B-B14F-4D97-AF65-F5344CB8AC3E}">
        <p14:creationId xmlns:p14="http://schemas.microsoft.com/office/powerpoint/2010/main" val="406882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recomendação de </a:t>
            </a:r>
            <a:r>
              <a:rPr lang="pt-BR" b="1" dirty="0" err="1"/>
              <a:t>reforecast</a:t>
            </a:r>
            <a:r>
              <a:rPr lang="pt-BR" b="1" dirty="0"/>
              <a:t> frequente com dado real</a:t>
            </a:r>
            <a:r>
              <a:rPr lang="pt-BR" dirty="0"/>
              <a:t> (que sugerimos lá atrás como boa prática geral) — especificamente pra esses dois </a:t>
            </a:r>
            <a:r>
              <a:rPr lang="pt-BR" dirty="0" err="1"/>
              <a:t>SKUs</a:t>
            </a:r>
            <a:r>
              <a:rPr lang="pt-BR" dirty="0"/>
              <a:t>, o modo recursivo (sem realimentação) é onde o achatamento mais aparece. Rodar a previsão com mais frequência (</a:t>
            </a:r>
            <a:r>
              <a:rPr lang="pt-BR" dirty="0" err="1"/>
              <a:t>ex</a:t>
            </a:r>
            <a:r>
              <a:rPr lang="pt-BR" dirty="0"/>
              <a:t>: semanal, sempre puxando o dado real mais recente) reduziria bastante esse efeito, porque o modelo nunca ficaria muitos passos "cego" sem um choque real pra corrigir a rota.</a:t>
            </a:r>
          </a:p>
        </p:txBody>
      </p:sp>
      <p:sp>
        <p:nvSpPr>
          <p:cNvPr id="4" name="Espaço Reservado para Número de Slide 3"/>
          <p:cNvSpPr>
            <a:spLocks noGrp="1"/>
          </p:cNvSpPr>
          <p:nvPr>
            <p:ph type="sldNum" sz="quarter" idx="5"/>
          </p:nvPr>
        </p:nvSpPr>
        <p:spPr/>
        <p:txBody>
          <a:bodyPr/>
          <a:lstStyle/>
          <a:p>
            <a:fld id="{29DF578C-ED42-4F6C-BD62-E94C4D28A6EF}" type="slidenum">
              <a:rPr lang="pt-BR" smtClean="0"/>
              <a:t>2</a:t>
            </a:fld>
            <a:endParaRPr lang="pt-BR"/>
          </a:p>
        </p:txBody>
      </p:sp>
    </p:spTree>
    <p:extLst>
      <p:ext uri="{BB962C8B-B14F-4D97-AF65-F5344CB8AC3E}">
        <p14:creationId xmlns:p14="http://schemas.microsoft.com/office/powerpoint/2010/main" val="1270297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A6ECE4-F462-360C-8D66-B3E393203F53}"/>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59694CB-07D1-BBDE-2088-05F946723A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2829D6A-FDC7-D3FB-C2F7-69A0F65645D6}"/>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5" name="Espaço Reservado para Rodapé 4">
            <a:extLst>
              <a:ext uri="{FF2B5EF4-FFF2-40B4-BE49-F238E27FC236}">
                <a16:creationId xmlns:a16="http://schemas.microsoft.com/office/drawing/2014/main" id="{438F8251-7D60-F3B4-11D0-209344827D0D}"/>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38B208A-A0EA-480A-6176-DDED410C1E0D}"/>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3757865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3874D-7DD8-FDB5-156E-88F47481E2CF}"/>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15501B7-1894-98ED-B728-E094D49A6299}"/>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DD896F8-1A0A-C336-3D6D-59F832329169}"/>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5" name="Espaço Reservado para Rodapé 4">
            <a:extLst>
              <a:ext uri="{FF2B5EF4-FFF2-40B4-BE49-F238E27FC236}">
                <a16:creationId xmlns:a16="http://schemas.microsoft.com/office/drawing/2014/main" id="{EC21D994-599D-FCCC-4377-2F54FFD8BA1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B8C67EA-5700-D87A-A2E6-D082B334D311}"/>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1470975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364714-7D15-C42B-82DD-D97CCE56629B}"/>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B28A542D-9D2B-2360-F645-8951F8C10D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2AE66E9A-CD2A-A537-666A-D6C445763828}"/>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5" name="Espaço Reservado para Rodapé 4">
            <a:extLst>
              <a:ext uri="{FF2B5EF4-FFF2-40B4-BE49-F238E27FC236}">
                <a16:creationId xmlns:a16="http://schemas.microsoft.com/office/drawing/2014/main" id="{63E8A333-535C-E753-8BDD-0E09D10B49E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1174DCE-1AB9-9B35-5DD9-57BA6E35A002}"/>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2526748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5688D6-A861-C29E-9F61-D2E60D61F0E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9F4D496-8930-8648-2372-2BCDE712B8D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FA790D4-77AF-7250-3A77-B77DDDB50B91}"/>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78DFCF0C-EE45-EED8-BB83-EE210A3D64C6}"/>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6" name="Espaço Reservado para Rodapé 5">
            <a:extLst>
              <a:ext uri="{FF2B5EF4-FFF2-40B4-BE49-F238E27FC236}">
                <a16:creationId xmlns:a16="http://schemas.microsoft.com/office/drawing/2014/main" id="{0CCA09F3-15AE-8ECD-EB36-1D4BBD8B04DC}"/>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4567031-40FC-9FB4-9C27-833BBC3C20FF}"/>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2246623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05ABA6-1EA7-D632-3FC4-E03E1D669563}"/>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23B99466-42EB-BBFC-3A2E-A87A22CA40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DFAE191F-DB5B-7A05-3451-4D843AA4B58F}"/>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34A52212-609F-7542-CBDC-04E00D420F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CDA0271-F786-8488-5F9E-DD11509E73C8}"/>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FDED5C52-71AB-4B04-6728-D77A2767A5D1}"/>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8" name="Espaço Reservado para Rodapé 7">
            <a:extLst>
              <a:ext uri="{FF2B5EF4-FFF2-40B4-BE49-F238E27FC236}">
                <a16:creationId xmlns:a16="http://schemas.microsoft.com/office/drawing/2014/main" id="{73AD6B29-10EA-CB54-FBEE-1D5CBDD2EA99}"/>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703B881-B6C3-7B65-AFB8-921081C7BC2B}"/>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2414925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700991-103E-B491-6802-B4D44E2520F4}"/>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CE39412-3F23-2207-7BEF-C91243EFE8C7}"/>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4" name="Espaço Reservado para Rodapé 3">
            <a:extLst>
              <a:ext uri="{FF2B5EF4-FFF2-40B4-BE49-F238E27FC236}">
                <a16:creationId xmlns:a16="http://schemas.microsoft.com/office/drawing/2014/main" id="{B2D68EFC-9952-0134-548B-37AFD2D00620}"/>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DEFA2BF8-CE4B-D6D2-486E-7387B98DE87F}"/>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572560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1935181-D565-5657-768A-FF7CF7FC8770}"/>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3" name="Espaço Reservado para Rodapé 2">
            <a:extLst>
              <a:ext uri="{FF2B5EF4-FFF2-40B4-BE49-F238E27FC236}">
                <a16:creationId xmlns:a16="http://schemas.microsoft.com/office/drawing/2014/main" id="{1AF701CC-0B08-B9D8-6FAB-C5AA0615EE73}"/>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7F4EE6C9-9EF6-9171-BFE0-1799786D3D0D}"/>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1043960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C3F80F-7F05-A365-2D40-FBD25C45F3DA}"/>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FFF5ABD5-38F6-F6B0-CDEB-41680F7BB2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690C8E76-AF02-E3DC-FFB1-419899154A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EB6C55A-35D5-C28D-D0D1-D5EB7CC32772}"/>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6" name="Espaço Reservado para Rodapé 5">
            <a:extLst>
              <a:ext uri="{FF2B5EF4-FFF2-40B4-BE49-F238E27FC236}">
                <a16:creationId xmlns:a16="http://schemas.microsoft.com/office/drawing/2014/main" id="{EA8D97E1-FA7F-5583-16E6-ACC60EB673B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7823579F-16F5-3DC1-A020-DEE1D06BC87E}"/>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3669114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677BD7-1B3E-2CE1-7E79-31546FC7681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8E8F4396-8538-C54B-1427-80E586C0C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673025D6-36A8-5CCA-45E1-0CD3962E02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587B58A-9E96-6F8E-74C3-476DFF176C6C}"/>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6" name="Espaço Reservado para Rodapé 5">
            <a:extLst>
              <a:ext uri="{FF2B5EF4-FFF2-40B4-BE49-F238E27FC236}">
                <a16:creationId xmlns:a16="http://schemas.microsoft.com/office/drawing/2014/main" id="{6A27698D-449E-1A08-EBFB-CCEC9135900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AB3301B-D438-66F0-549B-B36396BC773B}"/>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422156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D1CD62-5914-5927-AE49-06645611B33B}"/>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EB02F742-55E4-FE20-0EAD-20648ECBDBE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FEFD045-F11E-E760-E4EA-1DCAFA8F251F}"/>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5" name="Espaço Reservado para Rodapé 4">
            <a:extLst>
              <a:ext uri="{FF2B5EF4-FFF2-40B4-BE49-F238E27FC236}">
                <a16:creationId xmlns:a16="http://schemas.microsoft.com/office/drawing/2014/main" id="{AAB3B12C-298E-0C65-9C6C-D88A9E4BC40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8DB60FA-D6EE-D74D-FE08-64339FA0D21C}"/>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3806682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01F5E55-B7F5-63F4-9D74-CC6173A8392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65392489-67E6-8578-3331-4DBBF09ED3A2}"/>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6C1C849-2D04-B84F-03F4-8B36DDF58BDF}"/>
              </a:ext>
            </a:extLst>
          </p:cNvPr>
          <p:cNvSpPr>
            <a:spLocks noGrp="1"/>
          </p:cNvSpPr>
          <p:nvPr>
            <p:ph type="dt" sz="half" idx="10"/>
          </p:nvPr>
        </p:nvSpPr>
        <p:spPr/>
        <p:txBody>
          <a:bodyPr/>
          <a:lstStyle/>
          <a:p>
            <a:fld id="{97602778-DE59-4F3E-9C44-7834ECBCAFE8}" type="datetimeFigureOut">
              <a:rPr lang="pt-BR" smtClean="0"/>
              <a:t>17/07/2026</a:t>
            </a:fld>
            <a:endParaRPr lang="pt-BR"/>
          </a:p>
        </p:txBody>
      </p:sp>
      <p:sp>
        <p:nvSpPr>
          <p:cNvPr id="5" name="Espaço Reservado para Rodapé 4">
            <a:extLst>
              <a:ext uri="{FF2B5EF4-FFF2-40B4-BE49-F238E27FC236}">
                <a16:creationId xmlns:a16="http://schemas.microsoft.com/office/drawing/2014/main" id="{7B082309-17D8-EFFA-7DE5-E008A47BE30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957D0A5-4A48-B56C-CCAC-EB9FAA4ED527}"/>
              </a:ext>
            </a:extLst>
          </p:cNvPr>
          <p:cNvSpPr>
            <a:spLocks noGrp="1"/>
          </p:cNvSpPr>
          <p:nvPr>
            <p:ph type="sldNum" sz="quarter" idx="12"/>
          </p:nvPr>
        </p:nvSpPr>
        <p:spPr/>
        <p:txBody>
          <a:bodyPr/>
          <a:lstStyle/>
          <a:p>
            <a:fld id="{11683811-2607-4E46-8984-36D70B22790D}" type="slidenum">
              <a:rPr lang="pt-BR" smtClean="0"/>
              <a:t>‹nº›</a:t>
            </a:fld>
            <a:endParaRPr lang="pt-BR"/>
          </a:p>
        </p:txBody>
      </p:sp>
    </p:spTree>
    <p:extLst>
      <p:ext uri="{BB962C8B-B14F-4D97-AF65-F5344CB8AC3E}">
        <p14:creationId xmlns:p14="http://schemas.microsoft.com/office/powerpoint/2010/main" val="1947567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63960561-2294-171F-AAEE-6CE4ACDEE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CD13B56-26A6-A29F-3F9E-C2634AA416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969D58-363B-6E11-88E6-53A82D4A6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602778-DE59-4F3E-9C44-7834ECBCAFE8}" type="datetimeFigureOut">
              <a:rPr lang="pt-BR" smtClean="0"/>
              <a:t>17/07/2026</a:t>
            </a:fld>
            <a:endParaRPr lang="pt-BR"/>
          </a:p>
        </p:txBody>
      </p:sp>
      <p:sp>
        <p:nvSpPr>
          <p:cNvPr id="5" name="Espaço Reservado para Rodapé 4">
            <a:extLst>
              <a:ext uri="{FF2B5EF4-FFF2-40B4-BE49-F238E27FC236}">
                <a16:creationId xmlns:a16="http://schemas.microsoft.com/office/drawing/2014/main" id="{5CB0E518-20D1-3CA7-9A23-A4F4809E5B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CD567CC-E4EE-0706-6EDF-55A4CD95D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83811-2607-4E46-8984-36D70B22790D}" type="slidenum">
              <a:rPr lang="pt-BR" smtClean="0"/>
              <a:t>‹nº›</a:t>
            </a:fld>
            <a:endParaRPr lang="pt-BR"/>
          </a:p>
        </p:txBody>
      </p:sp>
    </p:spTree>
    <p:extLst>
      <p:ext uri="{BB962C8B-B14F-4D97-AF65-F5344CB8AC3E}">
        <p14:creationId xmlns:p14="http://schemas.microsoft.com/office/powerpoint/2010/main" val="3451723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D54B6A-4A3C-5540-2EAE-2B4C66396233}"/>
              </a:ext>
            </a:extLst>
          </p:cNvPr>
          <p:cNvSpPr>
            <a:spLocks noGrp="1"/>
          </p:cNvSpPr>
          <p:nvPr>
            <p:ph type="ctrTitle"/>
          </p:nvPr>
        </p:nvSpPr>
        <p:spPr/>
        <p:txBody>
          <a:bodyPr/>
          <a:lstStyle/>
          <a:p>
            <a:r>
              <a:rPr lang="pt-BR" dirty="0"/>
              <a:t>Business case</a:t>
            </a:r>
          </a:p>
        </p:txBody>
      </p:sp>
      <p:sp>
        <p:nvSpPr>
          <p:cNvPr id="3" name="Subtítulo 2">
            <a:extLst>
              <a:ext uri="{FF2B5EF4-FFF2-40B4-BE49-F238E27FC236}">
                <a16:creationId xmlns:a16="http://schemas.microsoft.com/office/drawing/2014/main" id="{80172DE1-CD98-66FA-9DE0-F0E55918A159}"/>
              </a:ext>
            </a:extLst>
          </p:cNvPr>
          <p:cNvSpPr>
            <a:spLocks noGrp="1"/>
          </p:cNvSpPr>
          <p:nvPr>
            <p:ph type="subTitle" idx="1"/>
          </p:nvPr>
        </p:nvSpPr>
        <p:spPr/>
        <p:txBody>
          <a:bodyPr/>
          <a:lstStyle/>
          <a:p>
            <a:endParaRPr lang="pt-BR"/>
          </a:p>
        </p:txBody>
      </p:sp>
    </p:spTree>
    <p:extLst>
      <p:ext uri="{BB962C8B-B14F-4D97-AF65-F5344CB8AC3E}">
        <p14:creationId xmlns:p14="http://schemas.microsoft.com/office/powerpoint/2010/main" val="3320898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25153D-B66B-CF51-69B1-8DF85B31963D}"/>
              </a:ext>
            </a:extLst>
          </p:cNvPr>
          <p:cNvSpPr>
            <a:spLocks noGrp="1"/>
          </p:cNvSpPr>
          <p:nvPr>
            <p:ph type="title"/>
          </p:nvPr>
        </p:nvSpPr>
        <p:spPr/>
        <p:txBody>
          <a:bodyPr>
            <a:normAutofit fontScale="90000"/>
          </a:bodyPr>
          <a:lstStyle/>
          <a:p>
            <a:r>
              <a:rPr lang="pt-BR" dirty="0" err="1"/>
              <a:t>Problem</a:t>
            </a:r>
            <a:r>
              <a:rPr lang="pt-BR" dirty="0"/>
              <a:t> 1 - </a:t>
            </a:r>
            <a:r>
              <a:rPr lang="en-US" dirty="0"/>
              <a:t>Stock-outs in E-commerce for Beverages during demand peaks not captured by the model.</a:t>
            </a:r>
            <a:endParaRPr lang="pt-BR" dirty="0"/>
          </a:p>
        </p:txBody>
      </p:sp>
      <p:sp>
        <p:nvSpPr>
          <p:cNvPr id="3" name="Espaço Reservado para Conteúdo 2">
            <a:extLst>
              <a:ext uri="{FF2B5EF4-FFF2-40B4-BE49-F238E27FC236}">
                <a16:creationId xmlns:a16="http://schemas.microsoft.com/office/drawing/2014/main" id="{C3ED838A-47A3-49A8-1F79-739B28191DD3}"/>
              </a:ext>
            </a:extLst>
          </p:cNvPr>
          <p:cNvSpPr>
            <a:spLocks noGrp="1"/>
          </p:cNvSpPr>
          <p:nvPr>
            <p:ph idx="1"/>
          </p:nvPr>
        </p:nvSpPr>
        <p:spPr>
          <a:xfrm>
            <a:off x="749300" y="1978025"/>
            <a:ext cx="10515600" cy="4351338"/>
          </a:xfrm>
        </p:spPr>
        <p:txBody>
          <a:bodyPr/>
          <a:lstStyle/>
          <a:p>
            <a:r>
              <a:rPr lang="pt-BR" b="1" dirty="0"/>
              <a:t>explicação técnica exata e comprovada</a:t>
            </a:r>
            <a:r>
              <a:rPr lang="pt-BR" dirty="0"/>
              <a:t> pra isso: o modelo estruturalmente suaviza a previsão em direção à média porque o sinal disponível é fraco demais pra apostar em picos, e o modo recursivo amplifica esse achatamento a cada passo à frente. Fechar esse gap exigiria uma variável que </a:t>
            </a:r>
            <a:r>
              <a:rPr lang="pt-BR" b="1" dirty="0"/>
              <a:t>avise a chegada do pico</a:t>
            </a:r>
            <a:r>
              <a:rPr lang="pt-BR" dirty="0"/>
              <a:t> (estoque, evento de marketplace, campanha)</a:t>
            </a:r>
          </a:p>
        </p:txBody>
      </p:sp>
    </p:spTree>
    <p:extLst>
      <p:ext uri="{BB962C8B-B14F-4D97-AF65-F5344CB8AC3E}">
        <p14:creationId xmlns:p14="http://schemas.microsoft.com/office/powerpoint/2010/main" val="3407131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F17B-57EA-84B8-263F-D4C7E81039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93B13B-DAFB-B162-F0DE-9185077591A3}"/>
              </a:ext>
            </a:extLst>
          </p:cNvPr>
          <p:cNvSpPr>
            <a:spLocks noGrp="1"/>
          </p:cNvSpPr>
          <p:nvPr>
            <p:ph type="title"/>
          </p:nvPr>
        </p:nvSpPr>
        <p:spPr/>
        <p:txBody>
          <a:bodyPr>
            <a:normAutofit fontScale="90000"/>
          </a:bodyPr>
          <a:lstStyle/>
          <a:p>
            <a:r>
              <a:rPr lang="pt-BR" dirty="0" err="1"/>
              <a:t>Problem</a:t>
            </a:r>
            <a:r>
              <a:rPr lang="pt-BR" dirty="0"/>
              <a:t> 1 - </a:t>
            </a:r>
            <a:r>
              <a:rPr lang="en-US" dirty="0"/>
              <a:t>Stock-outs in E-commerce for Beverages during demand peaks not captured by the model.</a:t>
            </a:r>
            <a:endParaRPr lang="pt-BR" dirty="0"/>
          </a:p>
        </p:txBody>
      </p:sp>
      <p:pic>
        <p:nvPicPr>
          <p:cNvPr id="7" name="Imagem 6">
            <a:extLst>
              <a:ext uri="{FF2B5EF4-FFF2-40B4-BE49-F238E27FC236}">
                <a16:creationId xmlns:a16="http://schemas.microsoft.com/office/drawing/2014/main" id="{AF68273F-17F6-AEB6-8DFC-70C1DED14454}"/>
              </a:ext>
            </a:extLst>
          </p:cNvPr>
          <p:cNvPicPr>
            <a:picLocks noChangeAspect="1"/>
          </p:cNvPicPr>
          <p:nvPr/>
        </p:nvPicPr>
        <p:blipFill>
          <a:blip r:embed="rId2"/>
          <a:srcRect b="50219"/>
          <a:stretch>
            <a:fillRect/>
          </a:stretch>
        </p:blipFill>
        <p:spPr>
          <a:xfrm>
            <a:off x="937923" y="2026381"/>
            <a:ext cx="11342977" cy="4701582"/>
          </a:xfrm>
          <a:prstGeom prst="rect">
            <a:avLst/>
          </a:prstGeom>
        </p:spPr>
      </p:pic>
    </p:spTree>
    <p:extLst>
      <p:ext uri="{BB962C8B-B14F-4D97-AF65-F5344CB8AC3E}">
        <p14:creationId xmlns:p14="http://schemas.microsoft.com/office/powerpoint/2010/main" val="948457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CE0D4-BF4C-20DD-1932-7FCB52B6D7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416CE3-1719-4512-FB1A-BABE6594CD61}"/>
              </a:ext>
            </a:extLst>
          </p:cNvPr>
          <p:cNvSpPr>
            <a:spLocks noGrp="1"/>
          </p:cNvSpPr>
          <p:nvPr>
            <p:ph type="title"/>
          </p:nvPr>
        </p:nvSpPr>
        <p:spPr/>
        <p:txBody>
          <a:bodyPr>
            <a:normAutofit fontScale="90000"/>
          </a:bodyPr>
          <a:lstStyle/>
          <a:p>
            <a:r>
              <a:rPr lang="pt-BR" dirty="0" err="1"/>
              <a:t>Problem</a:t>
            </a:r>
            <a:r>
              <a:rPr lang="pt-BR" dirty="0"/>
              <a:t> 1 - </a:t>
            </a:r>
            <a:r>
              <a:rPr lang="en-US" dirty="0"/>
              <a:t>Stock-outs in E-commerce for Beverages during demand peaks not captured by the model.</a:t>
            </a:r>
            <a:endParaRPr lang="pt-BR" dirty="0"/>
          </a:p>
        </p:txBody>
      </p:sp>
      <p:pic>
        <p:nvPicPr>
          <p:cNvPr id="4" name="Imagem 3">
            <a:extLst>
              <a:ext uri="{FF2B5EF4-FFF2-40B4-BE49-F238E27FC236}">
                <a16:creationId xmlns:a16="http://schemas.microsoft.com/office/drawing/2014/main" id="{A90B628C-2BAE-F267-A912-4B7C6CFE4CA6}"/>
              </a:ext>
            </a:extLst>
          </p:cNvPr>
          <p:cNvPicPr>
            <a:picLocks noChangeAspect="1"/>
          </p:cNvPicPr>
          <p:nvPr/>
        </p:nvPicPr>
        <p:blipFill>
          <a:blip r:embed="rId2"/>
          <a:srcRect t="50000"/>
          <a:stretch>
            <a:fillRect/>
          </a:stretch>
        </p:blipFill>
        <p:spPr>
          <a:xfrm>
            <a:off x="838200" y="1904999"/>
            <a:ext cx="10515600" cy="4377815"/>
          </a:xfrm>
          <a:prstGeom prst="rect">
            <a:avLst/>
          </a:prstGeom>
        </p:spPr>
      </p:pic>
    </p:spTree>
    <p:extLst>
      <p:ext uri="{BB962C8B-B14F-4D97-AF65-F5344CB8AC3E}">
        <p14:creationId xmlns:p14="http://schemas.microsoft.com/office/powerpoint/2010/main" val="4232832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EAC34-CD51-5359-9E28-1E3314C969E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A07F56-26AE-E6F4-C953-0DB82B649C87}"/>
              </a:ext>
            </a:extLst>
          </p:cNvPr>
          <p:cNvSpPr>
            <a:spLocks noGrp="1"/>
          </p:cNvSpPr>
          <p:nvPr>
            <p:ph type="title"/>
          </p:nvPr>
        </p:nvSpPr>
        <p:spPr/>
        <p:txBody>
          <a:bodyPr/>
          <a:lstStyle/>
          <a:p>
            <a:r>
              <a:rPr lang="pt-BR" dirty="0" err="1"/>
              <a:t>Problematic</a:t>
            </a:r>
            <a:r>
              <a:rPr lang="pt-BR" dirty="0"/>
              <a:t> Cases in e-Commerce:</a:t>
            </a:r>
          </a:p>
        </p:txBody>
      </p:sp>
      <p:sp>
        <p:nvSpPr>
          <p:cNvPr id="3" name="Espaço Reservado para Conteúdo 2">
            <a:extLst>
              <a:ext uri="{FF2B5EF4-FFF2-40B4-BE49-F238E27FC236}">
                <a16:creationId xmlns:a16="http://schemas.microsoft.com/office/drawing/2014/main" id="{E58C84BE-7DB1-D01E-FB94-4B740DA13E6E}"/>
              </a:ext>
            </a:extLst>
          </p:cNvPr>
          <p:cNvSpPr>
            <a:spLocks noGrp="1"/>
          </p:cNvSpPr>
          <p:nvPr>
            <p:ph idx="1"/>
          </p:nvPr>
        </p:nvSpPr>
        <p:spPr/>
        <p:txBody>
          <a:bodyPr/>
          <a:lstStyle/>
          <a:p>
            <a:endParaRPr lang="pt-BR" dirty="0"/>
          </a:p>
        </p:txBody>
      </p:sp>
    </p:spTree>
    <p:extLst>
      <p:ext uri="{BB962C8B-B14F-4D97-AF65-F5344CB8AC3E}">
        <p14:creationId xmlns:p14="http://schemas.microsoft.com/office/powerpoint/2010/main" val="2693660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3AE0BE-DB84-EAFD-2CB6-87EA52298337}"/>
              </a:ext>
            </a:extLst>
          </p:cNvPr>
          <p:cNvSpPr>
            <a:spLocks noGrp="1"/>
          </p:cNvSpPr>
          <p:nvPr>
            <p:ph type="title"/>
          </p:nvPr>
        </p:nvSpPr>
        <p:spPr/>
        <p:txBody>
          <a:bodyPr/>
          <a:lstStyle/>
          <a:p>
            <a:r>
              <a:rPr lang="pt-BR" dirty="0" err="1"/>
              <a:t>Changing</a:t>
            </a:r>
            <a:r>
              <a:rPr lang="pt-BR" dirty="0"/>
              <a:t> </a:t>
            </a:r>
            <a:r>
              <a:rPr lang="pt-BR" dirty="0" err="1"/>
              <a:t>the</a:t>
            </a:r>
            <a:r>
              <a:rPr lang="pt-BR" dirty="0"/>
              <a:t> </a:t>
            </a:r>
            <a:r>
              <a:rPr lang="pt-BR" dirty="0" err="1"/>
              <a:t>Accuracy</a:t>
            </a:r>
            <a:r>
              <a:rPr lang="pt-BR" dirty="0"/>
              <a:t> </a:t>
            </a:r>
            <a:r>
              <a:rPr lang="pt-BR" dirty="0" err="1"/>
              <a:t>method</a:t>
            </a:r>
            <a:endParaRPr lang="pt-BR" dirty="0"/>
          </a:p>
        </p:txBody>
      </p:sp>
      <p:sp>
        <p:nvSpPr>
          <p:cNvPr id="3" name="Espaço Reservado para Conteúdo 2">
            <a:extLst>
              <a:ext uri="{FF2B5EF4-FFF2-40B4-BE49-F238E27FC236}">
                <a16:creationId xmlns:a16="http://schemas.microsoft.com/office/drawing/2014/main" id="{183D9185-A619-5804-741F-C7927475A9B2}"/>
              </a:ext>
            </a:extLst>
          </p:cNvPr>
          <p:cNvSpPr>
            <a:spLocks noGrp="1"/>
          </p:cNvSpPr>
          <p:nvPr>
            <p:ph idx="1"/>
          </p:nvPr>
        </p:nvSpPr>
        <p:spPr/>
        <p:txBody>
          <a:bodyPr/>
          <a:lstStyle/>
          <a:p>
            <a:endParaRPr lang="pt-BR" dirty="0"/>
          </a:p>
        </p:txBody>
      </p:sp>
      <p:pic>
        <p:nvPicPr>
          <p:cNvPr id="5" name="Imagem 4">
            <a:extLst>
              <a:ext uri="{FF2B5EF4-FFF2-40B4-BE49-F238E27FC236}">
                <a16:creationId xmlns:a16="http://schemas.microsoft.com/office/drawing/2014/main" id="{2603AAD2-16D1-5627-B8E7-0819D558307E}"/>
              </a:ext>
            </a:extLst>
          </p:cNvPr>
          <p:cNvPicPr>
            <a:picLocks noChangeAspect="1"/>
          </p:cNvPicPr>
          <p:nvPr/>
        </p:nvPicPr>
        <p:blipFill>
          <a:blip r:embed="rId2"/>
          <a:stretch>
            <a:fillRect/>
          </a:stretch>
        </p:blipFill>
        <p:spPr>
          <a:xfrm>
            <a:off x="956772" y="2224398"/>
            <a:ext cx="10035037" cy="3553792"/>
          </a:xfrm>
          <a:prstGeom prst="rect">
            <a:avLst/>
          </a:prstGeom>
        </p:spPr>
      </p:pic>
    </p:spTree>
    <p:extLst>
      <p:ext uri="{BB962C8B-B14F-4D97-AF65-F5344CB8AC3E}">
        <p14:creationId xmlns:p14="http://schemas.microsoft.com/office/powerpoint/2010/main" val="4014533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94BB5-F3ED-6C1E-0089-84A4ABC528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142185-714B-30B4-DDD6-E0B217A207C3}"/>
              </a:ext>
            </a:extLst>
          </p:cNvPr>
          <p:cNvSpPr>
            <a:spLocks noGrp="1"/>
          </p:cNvSpPr>
          <p:nvPr>
            <p:ph type="title"/>
          </p:nvPr>
        </p:nvSpPr>
        <p:spPr/>
        <p:txBody>
          <a:bodyPr/>
          <a:lstStyle/>
          <a:p>
            <a:r>
              <a:rPr lang="pt-BR" dirty="0" err="1"/>
              <a:t>Changing</a:t>
            </a:r>
            <a:r>
              <a:rPr lang="pt-BR" dirty="0"/>
              <a:t> </a:t>
            </a:r>
            <a:r>
              <a:rPr lang="pt-BR" dirty="0" err="1"/>
              <a:t>the</a:t>
            </a:r>
            <a:r>
              <a:rPr lang="pt-BR" dirty="0"/>
              <a:t> </a:t>
            </a:r>
            <a:r>
              <a:rPr lang="pt-BR" dirty="0" err="1"/>
              <a:t>Accuracy</a:t>
            </a:r>
            <a:r>
              <a:rPr lang="pt-BR" dirty="0"/>
              <a:t> </a:t>
            </a:r>
            <a:r>
              <a:rPr lang="pt-BR" dirty="0" err="1"/>
              <a:t>method</a:t>
            </a:r>
            <a:endParaRPr lang="pt-BR" dirty="0"/>
          </a:p>
        </p:txBody>
      </p:sp>
      <p:sp>
        <p:nvSpPr>
          <p:cNvPr id="3" name="Espaço Reservado para Conteúdo 2">
            <a:extLst>
              <a:ext uri="{FF2B5EF4-FFF2-40B4-BE49-F238E27FC236}">
                <a16:creationId xmlns:a16="http://schemas.microsoft.com/office/drawing/2014/main" id="{47976EF0-9B83-60D1-470B-148C97945239}"/>
              </a:ext>
            </a:extLst>
          </p:cNvPr>
          <p:cNvSpPr>
            <a:spLocks noGrp="1"/>
          </p:cNvSpPr>
          <p:nvPr>
            <p:ph idx="1"/>
          </p:nvPr>
        </p:nvSpPr>
        <p:spPr/>
        <p:txBody>
          <a:bodyPr/>
          <a:lstStyle/>
          <a:p>
            <a:r>
              <a:rPr lang="pt-BR" dirty="0"/>
              <a:t>"Nossa métrica original tratava um pequeno erro numa semana de venda baixa com o mesmo peso de um erro grande numa semana de pico. Corrigindo isso para pesar pelo volume real vendido, os dois produtos que pareciam ter problema saem da faixa negativa para uma faixa de desempenho normal."</a:t>
            </a:r>
          </a:p>
        </p:txBody>
      </p:sp>
    </p:spTree>
    <p:extLst>
      <p:ext uri="{BB962C8B-B14F-4D97-AF65-F5344CB8AC3E}">
        <p14:creationId xmlns:p14="http://schemas.microsoft.com/office/powerpoint/2010/main" val="177379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0EDED7-164D-37D7-AF4E-592D5EF40958}"/>
              </a:ext>
            </a:extLst>
          </p:cNvPr>
          <p:cNvSpPr>
            <a:spLocks noGrp="1"/>
          </p:cNvSpPr>
          <p:nvPr>
            <p:ph type="title"/>
          </p:nvPr>
        </p:nvSpPr>
        <p:spPr/>
        <p:txBody>
          <a:bodyPr>
            <a:normAutofit/>
          </a:bodyPr>
          <a:lstStyle/>
          <a:p>
            <a:r>
              <a:rPr lang="pt-BR" b="1" dirty="0">
                <a:solidFill>
                  <a:schemeClr val="bg1"/>
                </a:solidFill>
              </a:rPr>
              <a:t>Correção de métrica: MAPE </a:t>
            </a:r>
            <a:r>
              <a:rPr lang="pt-BR" b="1" dirty="0" err="1">
                <a:solidFill>
                  <a:schemeClr val="bg1"/>
                </a:solidFill>
              </a:rPr>
              <a:t>vs</a:t>
            </a:r>
            <a:r>
              <a:rPr lang="pt-BR" b="1" dirty="0">
                <a:solidFill>
                  <a:schemeClr val="bg1"/>
                </a:solidFill>
              </a:rPr>
              <a:t> WAPE</a:t>
            </a:r>
            <a:endParaRPr lang="pt-BR" dirty="0">
              <a:solidFill>
                <a:schemeClr val="bg1"/>
              </a:solidFill>
            </a:endParaRPr>
          </a:p>
        </p:txBody>
      </p:sp>
      <p:pic>
        <p:nvPicPr>
          <p:cNvPr id="11" name="Imagem 10">
            <a:extLst>
              <a:ext uri="{FF2B5EF4-FFF2-40B4-BE49-F238E27FC236}">
                <a16:creationId xmlns:a16="http://schemas.microsoft.com/office/drawing/2014/main" id="{93B8F91A-1EDB-880A-4A2B-C08CA0D412B9}"/>
              </a:ext>
            </a:extLst>
          </p:cNvPr>
          <p:cNvPicPr>
            <a:picLocks noChangeAspect="1"/>
          </p:cNvPicPr>
          <p:nvPr/>
        </p:nvPicPr>
        <p:blipFill>
          <a:blip r:embed="rId2"/>
          <a:stretch>
            <a:fillRect/>
          </a:stretch>
        </p:blipFill>
        <p:spPr>
          <a:xfrm>
            <a:off x="2833232" y="1690688"/>
            <a:ext cx="6525536" cy="4601217"/>
          </a:xfrm>
          <a:prstGeom prst="rect">
            <a:avLst/>
          </a:prstGeom>
        </p:spPr>
      </p:pic>
    </p:spTree>
    <p:extLst>
      <p:ext uri="{BB962C8B-B14F-4D97-AF65-F5344CB8AC3E}">
        <p14:creationId xmlns:p14="http://schemas.microsoft.com/office/powerpoint/2010/main" val="647130809"/>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272</Words>
  <Application>Microsoft Office PowerPoint</Application>
  <PresentationFormat>Widescreen</PresentationFormat>
  <Paragraphs>12</Paragraphs>
  <Slides>8</Slides>
  <Notes>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8</vt:i4>
      </vt:variant>
    </vt:vector>
  </HeadingPairs>
  <TitlesOfParts>
    <vt:vector size="12" baseType="lpstr">
      <vt:lpstr>Arial</vt:lpstr>
      <vt:lpstr>Calibri</vt:lpstr>
      <vt:lpstr>Calibri Light</vt:lpstr>
      <vt:lpstr>Tema do Office</vt:lpstr>
      <vt:lpstr>Business case</vt:lpstr>
      <vt:lpstr>Problem 1 - Stock-outs in E-commerce for Beverages during demand peaks not captured by the model.</vt:lpstr>
      <vt:lpstr>Problem 1 - Stock-outs in E-commerce for Beverages during demand peaks not captured by the model.</vt:lpstr>
      <vt:lpstr>Problem 1 - Stock-outs in E-commerce for Beverages during demand peaks not captured by the model.</vt:lpstr>
      <vt:lpstr>Problematic Cases in e-Commerce:</vt:lpstr>
      <vt:lpstr>Changing the Accuracy method</vt:lpstr>
      <vt:lpstr>Changing the Accuracy method</vt:lpstr>
      <vt:lpstr>Correção de métrica: MAPE vs WAPE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Portela, Priscila (Contractor)</dc:creator>
  <cp:lastModifiedBy>Portela, Priscila (Contractor)</cp:lastModifiedBy>
  <cp:revision>3</cp:revision>
  <dcterms:created xsi:type="dcterms:W3CDTF">2026-07-18T00:57:30Z</dcterms:created>
  <dcterms:modified xsi:type="dcterms:W3CDTF">2026-07-18T01:38:23Z</dcterms:modified>
</cp:coreProperties>
</file>