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sldIdLst>
    <p:sldId id="256" r:id="rId2"/>
    <p:sldId id="265" r:id="rId3"/>
    <p:sldId id="266" r:id="rId4"/>
    <p:sldId id="267" r:id="rId5"/>
    <p:sldId id="268" r:id="rId6"/>
    <p:sldId id="269" r:id="rId7"/>
    <p:sldId id="270" r:id="rId8"/>
    <p:sldId id="271" r:id="rId9"/>
    <p:sldId id="272" r:id="rId10"/>
    <p:sldId id="273" r:id="rId11"/>
    <p:sldId id="274" r:id="rId12"/>
    <p:sldId id="275" r:id="rId13"/>
    <p:sldId id="276" r:id="rId14"/>
    <p:sldId id="277" r:id="rId15"/>
    <p:sldId id="278" r:id="rId16"/>
    <p:sldId id="279" r:id="rId17"/>
    <p:sldId id="261" r:id="rId18"/>
    <p:sldId id="262" r:id="rId19"/>
    <p:sldId id="263" r:id="rId20"/>
    <p:sldId id="258" r:id="rId21"/>
    <p:sldId id="260" r:id="rId22"/>
    <p:sldId id="259" r:id="rId23"/>
    <p:sldId id="257" r:id="rId24"/>
    <p:sldId id="264" r:id="rId25"/>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0" autoAdjust="0"/>
    <p:restoredTop sz="94660"/>
  </p:normalViewPr>
  <p:slideViewPr>
    <p:cSldViewPr snapToGrid="0">
      <p:cViewPr>
        <p:scale>
          <a:sx n="81" d="100"/>
          <a:sy n="81" d="100"/>
        </p:scale>
        <p:origin x="754"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7694DC1-E436-46D9-8A79-8CCDA564C367}" type="datetimeFigureOut">
              <a:rPr lang="pt-BR" smtClean="0"/>
              <a:t>19/07/2026</a:t>
            </a:fld>
            <a:endParaRPr lang="pt-BR"/>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9DF578C-ED42-4F6C-BD62-E94C4D28A6EF}" type="slidenum">
              <a:rPr lang="pt-BR" smtClean="0"/>
              <a:t>‹nº›</a:t>
            </a:fld>
            <a:endParaRPr lang="pt-BR"/>
          </a:p>
        </p:txBody>
      </p:sp>
    </p:spTree>
    <p:extLst>
      <p:ext uri="{BB962C8B-B14F-4D97-AF65-F5344CB8AC3E}">
        <p14:creationId xmlns:p14="http://schemas.microsoft.com/office/powerpoint/2010/main" val="40688229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recomendação de </a:t>
            </a:r>
            <a:r>
              <a:rPr lang="pt-BR" b="1" dirty="0" err="1"/>
              <a:t>reforecast</a:t>
            </a:r>
            <a:r>
              <a:rPr lang="pt-BR" b="1" dirty="0"/>
              <a:t> frequente com dado real</a:t>
            </a:r>
            <a:r>
              <a:rPr lang="pt-BR" dirty="0"/>
              <a:t> (que sugerimos lá atrás como boa prática geral) — especificamente pra esses dois </a:t>
            </a:r>
            <a:r>
              <a:rPr lang="pt-BR" dirty="0" err="1"/>
              <a:t>SKUs</a:t>
            </a:r>
            <a:r>
              <a:rPr lang="pt-BR" dirty="0"/>
              <a:t>, o modo recursivo (sem realimentação) é onde o achatamento mais aparece. Rodar a previsão com mais frequência (</a:t>
            </a:r>
            <a:r>
              <a:rPr lang="pt-BR" dirty="0" err="1"/>
              <a:t>ex</a:t>
            </a:r>
            <a:r>
              <a:rPr lang="pt-BR" dirty="0"/>
              <a:t>: semanal, sempre puxando o dado real mais recente) reduziria bastante esse efeito, porque o modelo nunca ficaria muitos passos "cego" sem um choque real pra corrigir a rota.</a:t>
            </a:r>
          </a:p>
        </p:txBody>
      </p:sp>
      <p:sp>
        <p:nvSpPr>
          <p:cNvPr id="4" name="Espaço Reservado para Número de Slide 3"/>
          <p:cNvSpPr>
            <a:spLocks noGrp="1"/>
          </p:cNvSpPr>
          <p:nvPr>
            <p:ph type="sldNum" sz="quarter" idx="5"/>
          </p:nvPr>
        </p:nvSpPr>
        <p:spPr/>
        <p:txBody>
          <a:bodyPr/>
          <a:lstStyle/>
          <a:p>
            <a:fld id="{29DF578C-ED42-4F6C-BD62-E94C4D28A6EF}" type="slidenum">
              <a:rPr lang="pt-BR" smtClean="0"/>
              <a:t>17</a:t>
            </a:fld>
            <a:endParaRPr lang="pt-BR"/>
          </a:p>
        </p:txBody>
      </p:sp>
    </p:spTree>
    <p:extLst>
      <p:ext uri="{BB962C8B-B14F-4D97-AF65-F5344CB8AC3E}">
        <p14:creationId xmlns:p14="http://schemas.microsoft.com/office/powerpoint/2010/main" val="12702972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7A6ECE4-F462-360C-8D66-B3E393203F53}"/>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359694CB-07D1-BBDE-2088-05F946723AB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A2829D6A-FDC7-D3FB-C2F7-69A0F65645D6}"/>
              </a:ext>
            </a:extLst>
          </p:cNvPr>
          <p:cNvSpPr>
            <a:spLocks noGrp="1"/>
          </p:cNvSpPr>
          <p:nvPr>
            <p:ph type="dt" sz="half" idx="10"/>
          </p:nvPr>
        </p:nvSpPr>
        <p:spPr/>
        <p:txBody>
          <a:bodyPr/>
          <a:lstStyle/>
          <a:p>
            <a:fld id="{97602778-DE59-4F3E-9C44-7834ECBCAFE8}" type="datetimeFigureOut">
              <a:rPr lang="pt-BR" smtClean="0"/>
              <a:t>19/07/2026</a:t>
            </a:fld>
            <a:endParaRPr lang="pt-BR"/>
          </a:p>
        </p:txBody>
      </p:sp>
      <p:sp>
        <p:nvSpPr>
          <p:cNvPr id="5" name="Espaço Reservado para Rodapé 4">
            <a:extLst>
              <a:ext uri="{FF2B5EF4-FFF2-40B4-BE49-F238E27FC236}">
                <a16:creationId xmlns:a16="http://schemas.microsoft.com/office/drawing/2014/main" id="{438F8251-7D60-F3B4-11D0-209344827D0D}"/>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F38B208A-A0EA-480A-6176-DDED410C1E0D}"/>
              </a:ext>
            </a:extLst>
          </p:cNvPr>
          <p:cNvSpPr>
            <a:spLocks noGrp="1"/>
          </p:cNvSpPr>
          <p:nvPr>
            <p:ph type="sldNum" sz="quarter" idx="12"/>
          </p:nvPr>
        </p:nvSpPr>
        <p:spPr/>
        <p:txBody>
          <a:bodyPr/>
          <a:lstStyle/>
          <a:p>
            <a:fld id="{11683811-2607-4E46-8984-36D70B22790D}" type="slidenum">
              <a:rPr lang="pt-BR" smtClean="0"/>
              <a:t>‹nº›</a:t>
            </a:fld>
            <a:endParaRPr lang="pt-BR"/>
          </a:p>
        </p:txBody>
      </p:sp>
    </p:spTree>
    <p:extLst>
      <p:ext uri="{BB962C8B-B14F-4D97-AF65-F5344CB8AC3E}">
        <p14:creationId xmlns:p14="http://schemas.microsoft.com/office/powerpoint/2010/main" val="37578658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863874D-7DD8-FDB5-156E-88F47481E2CF}"/>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515501B7-1894-98ED-B728-E094D49A6299}"/>
              </a:ext>
            </a:extLst>
          </p:cNvPr>
          <p:cNvSpPr>
            <a:spLocks noGrp="1"/>
          </p:cNvSpPr>
          <p:nvPr>
            <p:ph idx="1"/>
          </p:nvPr>
        </p:nvSpPr>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4DD896F8-1A0A-C336-3D6D-59F832329169}"/>
              </a:ext>
            </a:extLst>
          </p:cNvPr>
          <p:cNvSpPr>
            <a:spLocks noGrp="1"/>
          </p:cNvSpPr>
          <p:nvPr>
            <p:ph type="dt" sz="half" idx="10"/>
          </p:nvPr>
        </p:nvSpPr>
        <p:spPr/>
        <p:txBody>
          <a:bodyPr/>
          <a:lstStyle/>
          <a:p>
            <a:fld id="{97602778-DE59-4F3E-9C44-7834ECBCAFE8}" type="datetimeFigureOut">
              <a:rPr lang="pt-BR" smtClean="0"/>
              <a:t>19/07/2026</a:t>
            </a:fld>
            <a:endParaRPr lang="pt-BR"/>
          </a:p>
        </p:txBody>
      </p:sp>
      <p:sp>
        <p:nvSpPr>
          <p:cNvPr id="5" name="Espaço Reservado para Rodapé 4">
            <a:extLst>
              <a:ext uri="{FF2B5EF4-FFF2-40B4-BE49-F238E27FC236}">
                <a16:creationId xmlns:a16="http://schemas.microsoft.com/office/drawing/2014/main" id="{EC21D994-599D-FCCC-4377-2F54FFD8BA1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CB8C67EA-5700-D87A-A2E6-D082B334D311}"/>
              </a:ext>
            </a:extLst>
          </p:cNvPr>
          <p:cNvSpPr>
            <a:spLocks noGrp="1"/>
          </p:cNvSpPr>
          <p:nvPr>
            <p:ph type="sldNum" sz="quarter" idx="12"/>
          </p:nvPr>
        </p:nvSpPr>
        <p:spPr/>
        <p:txBody>
          <a:bodyPr/>
          <a:lstStyle/>
          <a:p>
            <a:fld id="{11683811-2607-4E46-8984-36D70B22790D}" type="slidenum">
              <a:rPr lang="pt-BR" smtClean="0"/>
              <a:t>‹nº›</a:t>
            </a:fld>
            <a:endParaRPr lang="pt-BR"/>
          </a:p>
        </p:txBody>
      </p:sp>
    </p:spTree>
    <p:extLst>
      <p:ext uri="{BB962C8B-B14F-4D97-AF65-F5344CB8AC3E}">
        <p14:creationId xmlns:p14="http://schemas.microsoft.com/office/powerpoint/2010/main" val="14709752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364714-7D15-C42B-82DD-D97CCE56629B}"/>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B28A542D-9D2B-2360-F645-8951F8C10D4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4" name="Espaço Reservado para Data 3">
            <a:extLst>
              <a:ext uri="{FF2B5EF4-FFF2-40B4-BE49-F238E27FC236}">
                <a16:creationId xmlns:a16="http://schemas.microsoft.com/office/drawing/2014/main" id="{2AE66E9A-CD2A-A537-666A-D6C445763828}"/>
              </a:ext>
            </a:extLst>
          </p:cNvPr>
          <p:cNvSpPr>
            <a:spLocks noGrp="1"/>
          </p:cNvSpPr>
          <p:nvPr>
            <p:ph type="dt" sz="half" idx="10"/>
          </p:nvPr>
        </p:nvSpPr>
        <p:spPr/>
        <p:txBody>
          <a:bodyPr/>
          <a:lstStyle/>
          <a:p>
            <a:fld id="{97602778-DE59-4F3E-9C44-7834ECBCAFE8}" type="datetimeFigureOut">
              <a:rPr lang="pt-BR" smtClean="0"/>
              <a:t>19/07/2026</a:t>
            </a:fld>
            <a:endParaRPr lang="pt-BR"/>
          </a:p>
        </p:txBody>
      </p:sp>
      <p:sp>
        <p:nvSpPr>
          <p:cNvPr id="5" name="Espaço Reservado para Rodapé 4">
            <a:extLst>
              <a:ext uri="{FF2B5EF4-FFF2-40B4-BE49-F238E27FC236}">
                <a16:creationId xmlns:a16="http://schemas.microsoft.com/office/drawing/2014/main" id="{63E8A333-535C-E753-8BDD-0E09D10B49EA}"/>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41174DCE-1AB9-9B35-5DD9-57BA6E35A002}"/>
              </a:ext>
            </a:extLst>
          </p:cNvPr>
          <p:cNvSpPr>
            <a:spLocks noGrp="1"/>
          </p:cNvSpPr>
          <p:nvPr>
            <p:ph type="sldNum" sz="quarter" idx="12"/>
          </p:nvPr>
        </p:nvSpPr>
        <p:spPr/>
        <p:txBody>
          <a:bodyPr/>
          <a:lstStyle/>
          <a:p>
            <a:fld id="{11683811-2607-4E46-8984-36D70B22790D}" type="slidenum">
              <a:rPr lang="pt-BR" smtClean="0"/>
              <a:t>‹nº›</a:t>
            </a:fld>
            <a:endParaRPr lang="pt-BR"/>
          </a:p>
        </p:txBody>
      </p:sp>
    </p:spTree>
    <p:extLst>
      <p:ext uri="{BB962C8B-B14F-4D97-AF65-F5344CB8AC3E}">
        <p14:creationId xmlns:p14="http://schemas.microsoft.com/office/powerpoint/2010/main" val="25267488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B5688D6-A861-C29E-9F61-D2E60D61F0E2}"/>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9F4D496-8930-8648-2372-2BCDE712B8D5}"/>
              </a:ext>
            </a:extLst>
          </p:cNvPr>
          <p:cNvSpPr>
            <a:spLocks noGrp="1"/>
          </p:cNvSpPr>
          <p:nvPr>
            <p:ph sz="half" idx="1"/>
          </p:nvPr>
        </p:nvSpPr>
        <p:spPr>
          <a:xfrm>
            <a:off x="838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BFA790D4-77AF-7250-3A77-B77DDDB50B91}"/>
              </a:ext>
            </a:extLst>
          </p:cNvPr>
          <p:cNvSpPr>
            <a:spLocks noGrp="1"/>
          </p:cNvSpPr>
          <p:nvPr>
            <p:ph sz="half" idx="2"/>
          </p:nvPr>
        </p:nvSpPr>
        <p:spPr>
          <a:xfrm>
            <a:off x="6172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78DFCF0C-EE45-EED8-BB83-EE210A3D64C6}"/>
              </a:ext>
            </a:extLst>
          </p:cNvPr>
          <p:cNvSpPr>
            <a:spLocks noGrp="1"/>
          </p:cNvSpPr>
          <p:nvPr>
            <p:ph type="dt" sz="half" idx="10"/>
          </p:nvPr>
        </p:nvSpPr>
        <p:spPr/>
        <p:txBody>
          <a:bodyPr/>
          <a:lstStyle/>
          <a:p>
            <a:fld id="{97602778-DE59-4F3E-9C44-7834ECBCAFE8}" type="datetimeFigureOut">
              <a:rPr lang="pt-BR" smtClean="0"/>
              <a:t>19/07/2026</a:t>
            </a:fld>
            <a:endParaRPr lang="pt-BR"/>
          </a:p>
        </p:txBody>
      </p:sp>
      <p:sp>
        <p:nvSpPr>
          <p:cNvPr id="6" name="Espaço Reservado para Rodapé 5">
            <a:extLst>
              <a:ext uri="{FF2B5EF4-FFF2-40B4-BE49-F238E27FC236}">
                <a16:creationId xmlns:a16="http://schemas.microsoft.com/office/drawing/2014/main" id="{0CCA09F3-15AE-8ECD-EB36-1D4BBD8B04DC}"/>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24567031-40FC-9FB4-9C27-833BBC3C20FF}"/>
              </a:ext>
            </a:extLst>
          </p:cNvPr>
          <p:cNvSpPr>
            <a:spLocks noGrp="1"/>
          </p:cNvSpPr>
          <p:nvPr>
            <p:ph type="sldNum" sz="quarter" idx="12"/>
          </p:nvPr>
        </p:nvSpPr>
        <p:spPr/>
        <p:txBody>
          <a:bodyPr/>
          <a:lstStyle/>
          <a:p>
            <a:fld id="{11683811-2607-4E46-8984-36D70B22790D}" type="slidenum">
              <a:rPr lang="pt-BR" smtClean="0"/>
              <a:t>‹nº›</a:t>
            </a:fld>
            <a:endParaRPr lang="pt-BR"/>
          </a:p>
        </p:txBody>
      </p:sp>
    </p:spTree>
    <p:extLst>
      <p:ext uri="{BB962C8B-B14F-4D97-AF65-F5344CB8AC3E}">
        <p14:creationId xmlns:p14="http://schemas.microsoft.com/office/powerpoint/2010/main" val="22466237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F05ABA6-1EA7-D632-3FC4-E03E1D669563}"/>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23B99466-42EB-BBFC-3A2E-A87A22CA407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Espaço Reservado para Conteúdo 3">
            <a:extLst>
              <a:ext uri="{FF2B5EF4-FFF2-40B4-BE49-F238E27FC236}">
                <a16:creationId xmlns:a16="http://schemas.microsoft.com/office/drawing/2014/main" id="{DFAE191F-DB5B-7A05-3451-4D843AA4B58F}"/>
              </a:ext>
            </a:extLst>
          </p:cNvPr>
          <p:cNvSpPr>
            <a:spLocks noGrp="1"/>
          </p:cNvSpPr>
          <p:nvPr>
            <p:ph sz="half" idx="2"/>
          </p:nvPr>
        </p:nvSpPr>
        <p:spPr>
          <a:xfrm>
            <a:off x="839788" y="2505075"/>
            <a:ext cx="5157787"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34A52212-609F-7542-CBDC-04E00D420FD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Espaço Reservado para Conteúdo 5">
            <a:extLst>
              <a:ext uri="{FF2B5EF4-FFF2-40B4-BE49-F238E27FC236}">
                <a16:creationId xmlns:a16="http://schemas.microsoft.com/office/drawing/2014/main" id="{4CDA0271-F786-8488-5F9E-DD11509E73C8}"/>
              </a:ext>
            </a:extLst>
          </p:cNvPr>
          <p:cNvSpPr>
            <a:spLocks noGrp="1"/>
          </p:cNvSpPr>
          <p:nvPr>
            <p:ph sz="quarter" idx="4"/>
          </p:nvPr>
        </p:nvSpPr>
        <p:spPr>
          <a:xfrm>
            <a:off x="6172200" y="2505075"/>
            <a:ext cx="5183188"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FDED5C52-71AB-4B04-6728-D77A2767A5D1}"/>
              </a:ext>
            </a:extLst>
          </p:cNvPr>
          <p:cNvSpPr>
            <a:spLocks noGrp="1"/>
          </p:cNvSpPr>
          <p:nvPr>
            <p:ph type="dt" sz="half" idx="10"/>
          </p:nvPr>
        </p:nvSpPr>
        <p:spPr/>
        <p:txBody>
          <a:bodyPr/>
          <a:lstStyle/>
          <a:p>
            <a:fld id="{97602778-DE59-4F3E-9C44-7834ECBCAFE8}" type="datetimeFigureOut">
              <a:rPr lang="pt-BR" smtClean="0"/>
              <a:t>19/07/2026</a:t>
            </a:fld>
            <a:endParaRPr lang="pt-BR"/>
          </a:p>
        </p:txBody>
      </p:sp>
      <p:sp>
        <p:nvSpPr>
          <p:cNvPr id="8" name="Espaço Reservado para Rodapé 7">
            <a:extLst>
              <a:ext uri="{FF2B5EF4-FFF2-40B4-BE49-F238E27FC236}">
                <a16:creationId xmlns:a16="http://schemas.microsoft.com/office/drawing/2014/main" id="{73AD6B29-10EA-CB54-FBEE-1D5CBDD2EA99}"/>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C703B881-B6C3-7B65-AFB8-921081C7BC2B}"/>
              </a:ext>
            </a:extLst>
          </p:cNvPr>
          <p:cNvSpPr>
            <a:spLocks noGrp="1"/>
          </p:cNvSpPr>
          <p:nvPr>
            <p:ph type="sldNum" sz="quarter" idx="12"/>
          </p:nvPr>
        </p:nvSpPr>
        <p:spPr/>
        <p:txBody>
          <a:bodyPr/>
          <a:lstStyle/>
          <a:p>
            <a:fld id="{11683811-2607-4E46-8984-36D70B22790D}" type="slidenum">
              <a:rPr lang="pt-BR" smtClean="0"/>
              <a:t>‹nº›</a:t>
            </a:fld>
            <a:endParaRPr lang="pt-BR"/>
          </a:p>
        </p:txBody>
      </p:sp>
    </p:spTree>
    <p:extLst>
      <p:ext uri="{BB962C8B-B14F-4D97-AF65-F5344CB8AC3E}">
        <p14:creationId xmlns:p14="http://schemas.microsoft.com/office/powerpoint/2010/main" val="24149253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700991-103E-B491-6802-B4D44E2520F4}"/>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4CE39412-3F23-2207-7BEF-C91243EFE8C7}"/>
              </a:ext>
            </a:extLst>
          </p:cNvPr>
          <p:cNvSpPr>
            <a:spLocks noGrp="1"/>
          </p:cNvSpPr>
          <p:nvPr>
            <p:ph type="dt" sz="half" idx="10"/>
          </p:nvPr>
        </p:nvSpPr>
        <p:spPr/>
        <p:txBody>
          <a:bodyPr/>
          <a:lstStyle/>
          <a:p>
            <a:fld id="{97602778-DE59-4F3E-9C44-7834ECBCAFE8}" type="datetimeFigureOut">
              <a:rPr lang="pt-BR" smtClean="0"/>
              <a:t>19/07/2026</a:t>
            </a:fld>
            <a:endParaRPr lang="pt-BR"/>
          </a:p>
        </p:txBody>
      </p:sp>
      <p:sp>
        <p:nvSpPr>
          <p:cNvPr id="4" name="Espaço Reservado para Rodapé 3">
            <a:extLst>
              <a:ext uri="{FF2B5EF4-FFF2-40B4-BE49-F238E27FC236}">
                <a16:creationId xmlns:a16="http://schemas.microsoft.com/office/drawing/2014/main" id="{B2D68EFC-9952-0134-548B-37AFD2D00620}"/>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DEFA2BF8-CE4B-D6D2-486E-7387B98DE87F}"/>
              </a:ext>
            </a:extLst>
          </p:cNvPr>
          <p:cNvSpPr>
            <a:spLocks noGrp="1"/>
          </p:cNvSpPr>
          <p:nvPr>
            <p:ph type="sldNum" sz="quarter" idx="12"/>
          </p:nvPr>
        </p:nvSpPr>
        <p:spPr/>
        <p:txBody>
          <a:bodyPr/>
          <a:lstStyle/>
          <a:p>
            <a:fld id="{11683811-2607-4E46-8984-36D70B22790D}" type="slidenum">
              <a:rPr lang="pt-BR" smtClean="0"/>
              <a:t>‹nº›</a:t>
            </a:fld>
            <a:endParaRPr lang="pt-BR"/>
          </a:p>
        </p:txBody>
      </p:sp>
    </p:spTree>
    <p:extLst>
      <p:ext uri="{BB962C8B-B14F-4D97-AF65-F5344CB8AC3E}">
        <p14:creationId xmlns:p14="http://schemas.microsoft.com/office/powerpoint/2010/main" val="5725606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81935181-D565-5657-768A-FF7CF7FC8770}"/>
              </a:ext>
            </a:extLst>
          </p:cNvPr>
          <p:cNvSpPr>
            <a:spLocks noGrp="1"/>
          </p:cNvSpPr>
          <p:nvPr>
            <p:ph type="dt" sz="half" idx="10"/>
          </p:nvPr>
        </p:nvSpPr>
        <p:spPr/>
        <p:txBody>
          <a:bodyPr/>
          <a:lstStyle/>
          <a:p>
            <a:fld id="{97602778-DE59-4F3E-9C44-7834ECBCAFE8}" type="datetimeFigureOut">
              <a:rPr lang="pt-BR" smtClean="0"/>
              <a:t>19/07/2026</a:t>
            </a:fld>
            <a:endParaRPr lang="pt-BR"/>
          </a:p>
        </p:txBody>
      </p:sp>
      <p:sp>
        <p:nvSpPr>
          <p:cNvPr id="3" name="Espaço Reservado para Rodapé 2">
            <a:extLst>
              <a:ext uri="{FF2B5EF4-FFF2-40B4-BE49-F238E27FC236}">
                <a16:creationId xmlns:a16="http://schemas.microsoft.com/office/drawing/2014/main" id="{1AF701CC-0B08-B9D8-6FAB-C5AA0615EE73}"/>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7F4EE6C9-9EF6-9171-BFE0-1799786D3D0D}"/>
              </a:ext>
            </a:extLst>
          </p:cNvPr>
          <p:cNvSpPr>
            <a:spLocks noGrp="1"/>
          </p:cNvSpPr>
          <p:nvPr>
            <p:ph type="sldNum" sz="quarter" idx="12"/>
          </p:nvPr>
        </p:nvSpPr>
        <p:spPr/>
        <p:txBody>
          <a:bodyPr/>
          <a:lstStyle/>
          <a:p>
            <a:fld id="{11683811-2607-4E46-8984-36D70B22790D}" type="slidenum">
              <a:rPr lang="pt-BR" smtClean="0"/>
              <a:t>‹nº›</a:t>
            </a:fld>
            <a:endParaRPr lang="pt-BR"/>
          </a:p>
        </p:txBody>
      </p:sp>
    </p:spTree>
    <p:extLst>
      <p:ext uri="{BB962C8B-B14F-4D97-AF65-F5344CB8AC3E}">
        <p14:creationId xmlns:p14="http://schemas.microsoft.com/office/powerpoint/2010/main" val="10439609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9C3F80F-7F05-A365-2D40-FBD25C45F3DA}"/>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FFF5ABD5-38F6-F6B0-CDEB-41680F7BB2B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690C8E76-AF02-E3DC-FFB1-419899154A0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2EB6C55A-35D5-C28D-D0D1-D5EB7CC32772}"/>
              </a:ext>
            </a:extLst>
          </p:cNvPr>
          <p:cNvSpPr>
            <a:spLocks noGrp="1"/>
          </p:cNvSpPr>
          <p:nvPr>
            <p:ph type="dt" sz="half" idx="10"/>
          </p:nvPr>
        </p:nvSpPr>
        <p:spPr/>
        <p:txBody>
          <a:bodyPr/>
          <a:lstStyle/>
          <a:p>
            <a:fld id="{97602778-DE59-4F3E-9C44-7834ECBCAFE8}" type="datetimeFigureOut">
              <a:rPr lang="pt-BR" smtClean="0"/>
              <a:t>19/07/2026</a:t>
            </a:fld>
            <a:endParaRPr lang="pt-BR"/>
          </a:p>
        </p:txBody>
      </p:sp>
      <p:sp>
        <p:nvSpPr>
          <p:cNvPr id="6" name="Espaço Reservado para Rodapé 5">
            <a:extLst>
              <a:ext uri="{FF2B5EF4-FFF2-40B4-BE49-F238E27FC236}">
                <a16:creationId xmlns:a16="http://schemas.microsoft.com/office/drawing/2014/main" id="{EA8D97E1-FA7F-5583-16E6-ACC60EB673BE}"/>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7823579F-16F5-3DC1-A020-DEE1D06BC87E}"/>
              </a:ext>
            </a:extLst>
          </p:cNvPr>
          <p:cNvSpPr>
            <a:spLocks noGrp="1"/>
          </p:cNvSpPr>
          <p:nvPr>
            <p:ph type="sldNum" sz="quarter" idx="12"/>
          </p:nvPr>
        </p:nvSpPr>
        <p:spPr/>
        <p:txBody>
          <a:bodyPr/>
          <a:lstStyle/>
          <a:p>
            <a:fld id="{11683811-2607-4E46-8984-36D70B22790D}" type="slidenum">
              <a:rPr lang="pt-BR" smtClean="0"/>
              <a:t>‹nº›</a:t>
            </a:fld>
            <a:endParaRPr lang="pt-BR"/>
          </a:p>
        </p:txBody>
      </p:sp>
    </p:spTree>
    <p:extLst>
      <p:ext uri="{BB962C8B-B14F-4D97-AF65-F5344CB8AC3E}">
        <p14:creationId xmlns:p14="http://schemas.microsoft.com/office/powerpoint/2010/main" val="36691148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677BD7-1B3E-2CE1-7E79-31546FC7681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8E8F4396-8538-C54B-1427-80E586C0C38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673025D6-36A8-5CCA-45E1-0CD3962E028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C587B58A-9E96-6F8E-74C3-476DFF176C6C}"/>
              </a:ext>
            </a:extLst>
          </p:cNvPr>
          <p:cNvSpPr>
            <a:spLocks noGrp="1"/>
          </p:cNvSpPr>
          <p:nvPr>
            <p:ph type="dt" sz="half" idx="10"/>
          </p:nvPr>
        </p:nvSpPr>
        <p:spPr/>
        <p:txBody>
          <a:bodyPr/>
          <a:lstStyle/>
          <a:p>
            <a:fld id="{97602778-DE59-4F3E-9C44-7834ECBCAFE8}" type="datetimeFigureOut">
              <a:rPr lang="pt-BR" smtClean="0"/>
              <a:t>19/07/2026</a:t>
            </a:fld>
            <a:endParaRPr lang="pt-BR"/>
          </a:p>
        </p:txBody>
      </p:sp>
      <p:sp>
        <p:nvSpPr>
          <p:cNvPr id="6" name="Espaço Reservado para Rodapé 5">
            <a:extLst>
              <a:ext uri="{FF2B5EF4-FFF2-40B4-BE49-F238E27FC236}">
                <a16:creationId xmlns:a16="http://schemas.microsoft.com/office/drawing/2014/main" id="{6A27698D-449E-1A08-EBFB-CCEC9135900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0AB3301B-D438-66F0-549B-B36396BC773B}"/>
              </a:ext>
            </a:extLst>
          </p:cNvPr>
          <p:cNvSpPr>
            <a:spLocks noGrp="1"/>
          </p:cNvSpPr>
          <p:nvPr>
            <p:ph type="sldNum" sz="quarter" idx="12"/>
          </p:nvPr>
        </p:nvSpPr>
        <p:spPr/>
        <p:txBody>
          <a:bodyPr/>
          <a:lstStyle/>
          <a:p>
            <a:fld id="{11683811-2607-4E46-8984-36D70B22790D}" type="slidenum">
              <a:rPr lang="pt-BR" smtClean="0"/>
              <a:t>‹nº›</a:t>
            </a:fld>
            <a:endParaRPr lang="pt-BR"/>
          </a:p>
        </p:txBody>
      </p:sp>
    </p:spTree>
    <p:extLst>
      <p:ext uri="{BB962C8B-B14F-4D97-AF65-F5344CB8AC3E}">
        <p14:creationId xmlns:p14="http://schemas.microsoft.com/office/powerpoint/2010/main" val="42215618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D1CD62-5914-5927-AE49-06645611B33B}"/>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EB02F742-55E4-FE20-0EAD-20648ECBDBE9}"/>
              </a:ext>
            </a:extLst>
          </p:cNvPr>
          <p:cNvSpPr>
            <a:spLocks noGrp="1"/>
          </p:cNvSpPr>
          <p:nvPr>
            <p:ph type="body" orient="vert" idx="1"/>
          </p:nvPr>
        </p:nvSpPr>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4FEFD045-F11E-E760-E4EA-1DCAFA8F251F}"/>
              </a:ext>
            </a:extLst>
          </p:cNvPr>
          <p:cNvSpPr>
            <a:spLocks noGrp="1"/>
          </p:cNvSpPr>
          <p:nvPr>
            <p:ph type="dt" sz="half" idx="10"/>
          </p:nvPr>
        </p:nvSpPr>
        <p:spPr/>
        <p:txBody>
          <a:bodyPr/>
          <a:lstStyle/>
          <a:p>
            <a:fld id="{97602778-DE59-4F3E-9C44-7834ECBCAFE8}" type="datetimeFigureOut">
              <a:rPr lang="pt-BR" smtClean="0"/>
              <a:t>19/07/2026</a:t>
            </a:fld>
            <a:endParaRPr lang="pt-BR"/>
          </a:p>
        </p:txBody>
      </p:sp>
      <p:sp>
        <p:nvSpPr>
          <p:cNvPr id="5" name="Espaço Reservado para Rodapé 4">
            <a:extLst>
              <a:ext uri="{FF2B5EF4-FFF2-40B4-BE49-F238E27FC236}">
                <a16:creationId xmlns:a16="http://schemas.microsoft.com/office/drawing/2014/main" id="{AAB3B12C-298E-0C65-9C6C-D88A9E4BC404}"/>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F8DB60FA-D6EE-D74D-FE08-64339FA0D21C}"/>
              </a:ext>
            </a:extLst>
          </p:cNvPr>
          <p:cNvSpPr>
            <a:spLocks noGrp="1"/>
          </p:cNvSpPr>
          <p:nvPr>
            <p:ph type="sldNum" sz="quarter" idx="12"/>
          </p:nvPr>
        </p:nvSpPr>
        <p:spPr/>
        <p:txBody>
          <a:bodyPr/>
          <a:lstStyle/>
          <a:p>
            <a:fld id="{11683811-2607-4E46-8984-36D70B22790D}" type="slidenum">
              <a:rPr lang="pt-BR" smtClean="0"/>
              <a:t>‹nº›</a:t>
            </a:fld>
            <a:endParaRPr lang="pt-BR"/>
          </a:p>
        </p:txBody>
      </p:sp>
    </p:spTree>
    <p:extLst>
      <p:ext uri="{BB962C8B-B14F-4D97-AF65-F5344CB8AC3E}">
        <p14:creationId xmlns:p14="http://schemas.microsoft.com/office/powerpoint/2010/main" val="38066824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801F5E55-B7F5-63F4-9D74-CC6173A8392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65392489-67E6-8578-3331-4DBBF09ED3A2}"/>
              </a:ext>
            </a:extLst>
          </p:cNvPr>
          <p:cNvSpPr>
            <a:spLocks noGrp="1"/>
          </p:cNvSpPr>
          <p:nvPr>
            <p:ph type="body" orient="vert" idx="1"/>
          </p:nvPr>
        </p:nvSpPr>
        <p:spPr>
          <a:xfrm>
            <a:off x="838200" y="365125"/>
            <a:ext cx="7734300" cy="5811838"/>
          </a:xfr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D6C1C849-2D04-B84F-03F4-8B36DDF58BDF}"/>
              </a:ext>
            </a:extLst>
          </p:cNvPr>
          <p:cNvSpPr>
            <a:spLocks noGrp="1"/>
          </p:cNvSpPr>
          <p:nvPr>
            <p:ph type="dt" sz="half" idx="10"/>
          </p:nvPr>
        </p:nvSpPr>
        <p:spPr/>
        <p:txBody>
          <a:bodyPr/>
          <a:lstStyle/>
          <a:p>
            <a:fld id="{97602778-DE59-4F3E-9C44-7834ECBCAFE8}" type="datetimeFigureOut">
              <a:rPr lang="pt-BR" smtClean="0"/>
              <a:t>19/07/2026</a:t>
            </a:fld>
            <a:endParaRPr lang="pt-BR"/>
          </a:p>
        </p:txBody>
      </p:sp>
      <p:sp>
        <p:nvSpPr>
          <p:cNvPr id="5" name="Espaço Reservado para Rodapé 4">
            <a:extLst>
              <a:ext uri="{FF2B5EF4-FFF2-40B4-BE49-F238E27FC236}">
                <a16:creationId xmlns:a16="http://schemas.microsoft.com/office/drawing/2014/main" id="{7B082309-17D8-EFFA-7DE5-E008A47BE30E}"/>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4957D0A5-4A48-B56C-CCAC-EB9FAA4ED527}"/>
              </a:ext>
            </a:extLst>
          </p:cNvPr>
          <p:cNvSpPr>
            <a:spLocks noGrp="1"/>
          </p:cNvSpPr>
          <p:nvPr>
            <p:ph type="sldNum" sz="quarter" idx="12"/>
          </p:nvPr>
        </p:nvSpPr>
        <p:spPr/>
        <p:txBody>
          <a:bodyPr/>
          <a:lstStyle/>
          <a:p>
            <a:fld id="{11683811-2607-4E46-8984-36D70B22790D}" type="slidenum">
              <a:rPr lang="pt-BR" smtClean="0"/>
              <a:t>‹nº›</a:t>
            </a:fld>
            <a:endParaRPr lang="pt-BR"/>
          </a:p>
        </p:txBody>
      </p:sp>
    </p:spTree>
    <p:extLst>
      <p:ext uri="{BB962C8B-B14F-4D97-AF65-F5344CB8AC3E}">
        <p14:creationId xmlns:p14="http://schemas.microsoft.com/office/powerpoint/2010/main" val="19475675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63960561-2294-171F-AAEE-6CE4ACDEEAC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ACD13B56-26A6-A29F-3F9E-C2634AA4162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969D58-363B-6E11-88E6-53A82D4A68C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7602778-DE59-4F3E-9C44-7834ECBCAFE8}" type="datetimeFigureOut">
              <a:rPr lang="pt-BR" smtClean="0"/>
              <a:t>19/07/2026</a:t>
            </a:fld>
            <a:endParaRPr lang="pt-BR"/>
          </a:p>
        </p:txBody>
      </p:sp>
      <p:sp>
        <p:nvSpPr>
          <p:cNvPr id="5" name="Espaço Reservado para Rodapé 4">
            <a:extLst>
              <a:ext uri="{FF2B5EF4-FFF2-40B4-BE49-F238E27FC236}">
                <a16:creationId xmlns:a16="http://schemas.microsoft.com/office/drawing/2014/main" id="{5CB0E518-20D1-3CA7-9A23-A4F4809E5BD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FCD567CC-E4EE-0706-6EDF-55A4CD95D09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1683811-2607-4E46-8984-36D70B22790D}" type="slidenum">
              <a:rPr lang="pt-BR" smtClean="0"/>
              <a:t>‹nº›</a:t>
            </a:fld>
            <a:endParaRPr lang="pt-BR"/>
          </a:p>
        </p:txBody>
      </p:sp>
    </p:spTree>
    <p:extLst>
      <p:ext uri="{BB962C8B-B14F-4D97-AF65-F5344CB8AC3E}">
        <p14:creationId xmlns:p14="http://schemas.microsoft.com/office/powerpoint/2010/main" val="345172362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D54B6A-4A3C-5540-2EAE-2B4C66396233}"/>
              </a:ext>
            </a:extLst>
          </p:cNvPr>
          <p:cNvSpPr>
            <a:spLocks noGrp="1"/>
          </p:cNvSpPr>
          <p:nvPr>
            <p:ph type="ctrTitle"/>
          </p:nvPr>
        </p:nvSpPr>
        <p:spPr/>
        <p:txBody>
          <a:bodyPr/>
          <a:lstStyle/>
          <a:p>
            <a:r>
              <a:rPr lang="pt-BR" dirty="0"/>
              <a:t>Business case</a:t>
            </a:r>
          </a:p>
        </p:txBody>
      </p:sp>
      <p:sp>
        <p:nvSpPr>
          <p:cNvPr id="3" name="Subtítulo 2">
            <a:extLst>
              <a:ext uri="{FF2B5EF4-FFF2-40B4-BE49-F238E27FC236}">
                <a16:creationId xmlns:a16="http://schemas.microsoft.com/office/drawing/2014/main" id="{80172DE1-CD98-66FA-9DE0-F0E55918A159}"/>
              </a:ext>
            </a:extLst>
          </p:cNvPr>
          <p:cNvSpPr>
            <a:spLocks noGrp="1"/>
          </p:cNvSpPr>
          <p:nvPr>
            <p:ph type="subTitle" idx="1"/>
          </p:nvPr>
        </p:nvSpPr>
        <p:spPr/>
        <p:txBody>
          <a:bodyPr>
            <a:normAutofit/>
          </a:bodyPr>
          <a:lstStyle/>
          <a:p>
            <a:r>
              <a:rPr lang="en-US" sz="3200" dirty="0"/>
              <a:t> Demand Model Optimization at </a:t>
            </a:r>
            <a:r>
              <a:rPr lang="en-US" sz="3200" dirty="0" err="1"/>
              <a:t>RetailCo</a:t>
            </a:r>
            <a:r>
              <a:rPr lang="en-US" sz="3200" dirty="0"/>
              <a:t> </a:t>
            </a:r>
            <a:endParaRPr lang="pt-BR" sz="3200" dirty="0"/>
          </a:p>
        </p:txBody>
      </p:sp>
    </p:spTree>
    <p:extLst>
      <p:ext uri="{BB962C8B-B14F-4D97-AF65-F5344CB8AC3E}">
        <p14:creationId xmlns:p14="http://schemas.microsoft.com/office/powerpoint/2010/main" val="33208984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4178132-CF0F-5C36-2463-095131F13CC3}"/>
              </a:ext>
            </a:extLst>
          </p:cNvPr>
          <p:cNvSpPr>
            <a:spLocks noGrp="1"/>
          </p:cNvSpPr>
          <p:nvPr>
            <p:ph type="title"/>
          </p:nvPr>
        </p:nvSpPr>
        <p:spPr/>
        <p:txBody>
          <a:bodyPr/>
          <a:lstStyle/>
          <a:p>
            <a:r>
              <a:rPr lang="pt-BR" dirty="0"/>
              <a:t>Priscila Rockenbach Portela</a:t>
            </a:r>
            <a:br>
              <a:rPr lang="pt-BR" dirty="0"/>
            </a:br>
            <a:r>
              <a:rPr lang="pt-BR" sz="3600" dirty="0"/>
              <a:t>Data </a:t>
            </a:r>
            <a:r>
              <a:rPr lang="pt-BR" sz="3600" dirty="0" err="1"/>
              <a:t>Scientist</a:t>
            </a:r>
            <a:endParaRPr lang="en-US" dirty="0"/>
          </a:p>
        </p:txBody>
      </p:sp>
      <p:sp>
        <p:nvSpPr>
          <p:cNvPr id="3" name="Espaço Reservado para Conteúdo 2">
            <a:extLst>
              <a:ext uri="{FF2B5EF4-FFF2-40B4-BE49-F238E27FC236}">
                <a16:creationId xmlns:a16="http://schemas.microsoft.com/office/drawing/2014/main" id="{C79DC7FF-9130-637D-F6E2-D80876AE83A5}"/>
              </a:ext>
            </a:extLst>
          </p:cNvPr>
          <p:cNvSpPr>
            <a:spLocks noGrp="1"/>
          </p:cNvSpPr>
          <p:nvPr>
            <p:ph idx="1"/>
          </p:nvPr>
        </p:nvSpPr>
        <p:spPr/>
        <p:txBody>
          <a:bodyPr/>
          <a:lstStyle/>
          <a:p>
            <a:r>
              <a:rPr lang="en-US" dirty="0" err="1"/>
              <a:t>Trajetória</a:t>
            </a:r>
            <a:r>
              <a:rPr lang="en-US" dirty="0"/>
              <a:t>, </a:t>
            </a:r>
            <a:r>
              <a:rPr lang="en-US" dirty="0" err="1"/>
              <a:t>experiência</a:t>
            </a:r>
            <a:r>
              <a:rPr lang="en-US" dirty="0"/>
              <a:t> com forecasting/ML, o </a:t>
            </a:r>
            <a:r>
              <a:rPr lang="en-US" dirty="0" err="1"/>
              <a:t>que</a:t>
            </a:r>
            <a:r>
              <a:rPr lang="en-US" dirty="0"/>
              <a:t> </a:t>
            </a:r>
            <a:r>
              <a:rPr lang="en-US" dirty="0" err="1"/>
              <a:t>te</a:t>
            </a:r>
            <a:r>
              <a:rPr lang="en-US" dirty="0"/>
              <a:t> </a:t>
            </a:r>
            <a:r>
              <a:rPr lang="en-US" dirty="0" err="1"/>
              <a:t>motiva</a:t>
            </a:r>
            <a:r>
              <a:rPr lang="en-US" dirty="0"/>
              <a:t> no </a:t>
            </a:r>
            <a:r>
              <a:rPr lang="en-US" dirty="0" err="1"/>
              <a:t>problema</a:t>
            </a:r>
            <a:r>
              <a:rPr lang="en-US" dirty="0"/>
              <a:t>.</a:t>
            </a:r>
          </a:p>
          <a:p>
            <a:endParaRPr lang="en-US" dirty="0"/>
          </a:p>
          <a:p>
            <a:r>
              <a:rPr lang="en-US" dirty="0"/>
              <a:t>Passionate about data and discovery new </a:t>
            </a:r>
            <a:r>
              <a:rPr lang="en-US" dirty="0" err="1"/>
              <a:t>tecnologies</a:t>
            </a:r>
            <a:endParaRPr lang="en-US" dirty="0"/>
          </a:p>
        </p:txBody>
      </p:sp>
    </p:spTree>
    <p:extLst>
      <p:ext uri="{BB962C8B-B14F-4D97-AF65-F5344CB8AC3E}">
        <p14:creationId xmlns:p14="http://schemas.microsoft.com/office/powerpoint/2010/main" val="25167746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FFF4FC-62E4-6F84-E954-3839D60A508F}"/>
              </a:ext>
            </a:extLst>
          </p:cNvPr>
          <p:cNvSpPr>
            <a:spLocks noGrp="1"/>
          </p:cNvSpPr>
          <p:nvPr>
            <p:ph type="title"/>
          </p:nvPr>
        </p:nvSpPr>
        <p:spPr/>
        <p:txBody>
          <a:bodyPr/>
          <a:lstStyle/>
          <a:p>
            <a:r>
              <a:rPr lang="pt-BR" dirty="0" err="1"/>
              <a:t>Executive</a:t>
            </a:r>
            <a:r>
              <a:rPr lang="pt-BR" dirty="0"/>
              <a:t> </a:t>
            </a:r>
            <a:r>
              <a:rPr lang="pt-BR" dirty="0" err="1"/>
              <a:t>Summary</a:t>
            </a:r>
            <a:endParaRPr lang="en-US" dirty="0"/>
          </a:p>
        </p:txBody>
      </p:sp>
      <p:sp>
        <p:nvSpPr>
          <p:cNvPr id="3" name="Espaço Reservado para Conteúdo 2">
            <a:extLst>
              <a:ext uri="{FF2B5EF4-FFF2-40B4-BE49-F238E27FC236}">
                <a16:creationId xmlns:a16="http://schemas.microsoft.com/office/drawing/2014/main" id="{656EE64A-A0C5-AD47-E4F6-68427BDED666}"/>
              </a:ext>
            </a:extLst>
          </p:cNvPr>
          <p:cNvSpPr>
            <a:spLocks noGrp="1"/>
          </p:cNvSpPr>
          <p:nvPr>
            <p:ph idx="1"/>
          </p:nvPr>
        </p:nvSpPr>
        <p:spPr/>
        <p:txBody>
          <a:bodyPr/>
          <a:lstStyle/>
          <a:p>
            <a:r>
              <a:rPr lang="en-US" dirty="0" err="1"/>
              <a:t>Contexto</a:t>
            </a:r>
            <a:r>
              <a:rPr lang="en-US" dirty="0"/>
              <a:t> </a:t>
            </a:r>
            <a:r>
              <a:rPr lang="en-US" dirty="0" err="1"/>
              <a:t>mínimo</a:t>
            </a:r>
            <a:r>
              <a:rPr lang="en-US" dirty="0"/>
              <a:t> </a:t>
            </a:r>
            <a:r>
              <a:rPr lang="en-US" dirty="0" err="1"/>
              <a:t>pra</a:t>
            </a:r>
            <a:r>
              <a:rPr lang="en-US" dirty="0"/>
              <a:t> </a:t>
            </a:r>
            <a:r>
              <a:rPr lang="en-US" dirty="0" err="1"/>
              <a:t>situar</a:t>
            </a:r>
            <a:r>
              <a:rPr lang="en-US" dirty="0"/>
              <a:t> a </a:t>
            </a:r>
            <a:r>
              <a:rPr lang="en-US" dirty="0" err="1"/>
              <a:t>audiência</a:t>
            </a:r>
            <a:r>
              <a:rPr lang="en-US" dirty="0"/>
              <a:t>: quem é a </a:t>
            </a:r>
            <a:r>
              <a:rPr lang="en-US" dirty="0" err="1"/>
              <a:t>RetailCo</a:t>
            </a:r>
            <a:r>
              <a:rPr lang="en-US" dirty="0"/>
              <a:t>, </a:t>
            </a:r>
            <a:r>
              <a:rPr lang="en-US" dirty="0" err="1"/>
              <a:t>os</a:t>
            </a:r>
            <a:r>
              <a:rPr lang="en-US" dirty="0"/>
              <a:t> 3 </a:t>
            </a:r>
            <a:r>
              <a:rPr lang="en-US" dirty="0" err="1"/>
              <a:t>canais</a:t>
            </a:r>
            <a:r>
              <a:rPr lang="en-US" dirty="0"/>
              <a:t>, </a:t>
            </a:r>
            <a:r>
              <a:rPr lang="en-US" dirty="0" err="1"/>
              <a:t>os</a:t>
            </a:r>
            <a:r>
              <a:rPr lang="en-US" dirty="0"/>
              <a:t> 5 </a:t>
            </a:r>
            <a:r>
              <a:rPr lang="en-US" dirty="0" err="1"/>
              <a:t>produtos</a:t>
            </a:r>
            <a:r>
              <a:rPr lang="en-US" dirty="0"/>
              <a:t> com shelf life </a:t>
            </a:r>
            <a:r>
              <a:rPr lang="en-US" dirty="0" err="1"/>
              <a:t>curto</a:t>
            </a:r>
            <a:r>
              <a:rPr lang="en-US" dirty="0"/>
              <a:t>. </a:t>
            </a:r>
            <a:r>
              <a:rPr lang="en-US" dirty="0" err="1"/>
              <a:t>Não</a:t>
            </a:r>
            <a:r>
              <a:rPr lang="en-US" dirty="0"/>
              <a:t> é o </a:t>
            </a:r>
            <a:r>
              <a:rPr lang="en-US" dirty="0" err="1"/>
              <a:t>foco</a:t>
            </a:r>
            <a:r>
              <a:rPr lang="en-US" dirty="0"/>
              <a:t>, é </a:t>
            </a:r>
            <a:r>
              <a:rPr lang="en-US" dirty="0" err="1"/>
              <a:t>só</a:t>
            </a:r>
            <a:r>
              <a:rPr lang="en-US" dirty="0"/>
              <a:t> </a:t>
            </a:r>
            <a:r>
              <a:rPr lang="en-US" dirty="0" err="1"/>
              <a:t>ancoragem</a:t>
            </a:r>
            <a:r>
              <a:rPr lang="en-US" dirty="0"/>
              <a:t> — 1 </a:t>
            </a:r>
            <a:r>
              <a:rPr lang="en-US" dirty="0" err="1"/>
              <a:t>frase</a:t>
            </a:r>
            <a:r>
              <a:rPr lang="en-US" dirty="0"/>
              <a:t> </a:t>
            </a:r>
            <a:r>
              <a:rPr lang="en-US" dirty="0" err="1"/>
              <a:t>por</a:t>
            </a:r>
            <a:r>
              <a:rPr lang="en-US" dirty="0"/>
              <a:t> canal, </a:t>
            </a:r>
            <a:r>
              <a:rPr lang="en-US" dirty="0" err="1"/>
              <a:t>não</a:t>
            </a:r>
            <a:r>
              <a:rPr lang="en-US" dirty="0"/>
              <a:t> </a:t>
            </a:r>
            <a:r>
              <a:rPr lang="en-US" dirty="0" err="1"/>
              <a:t>precisa</a:t>
            </a:r>
            <a:r>
              <a:rPr lang="en-US" dirty="0"/>
              <a:t> </a:t>
            </a:r>
            <a:r>
              <a:rPr lang="en-US" dirty="0" err="1"/>
              <a:t>repetir</a:t>
            </a:r>
            <a:r>
              <a:rPr lang="en-US" dirty="0"/>
              <a:t> a </a:t>
            </a:r>
            <a:r>
              <a:rPr lang="en-US" dirty="0" err="1"/>
              <a:t>tabela</a:t>
            </a:r>
            <a:r>
              <a:rPr lang="en-US" dirty="0"/>
              <a:t> </a:t>
            </a:r>
            <a:r>
              <a:rPr lang="en-US" dirty="0" err="1"/>
              <a:t>toda</a:t>
            </a:r>
            <a:r>
              <a:rPr lang="en-US" dirty="0"/>
              <a:t> do case.</a:t>
            </a:r>
          </a:p>
        </p:txBody>
      </p:sp>
    </p:spTree>
    <p:extLst>
      <p:ext uri="{BB962C8B-B14F-4D97-AF65-F5344CB8AC3E}">
        <p14:creationId xmlns:p14="http://schemas.microsoft.com/office/powerpoint/2010/main" val="9116306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C91306-852A-1C2E-AF77-E5400B2C8C8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5EB6C38-014C-CB91-BDFC-7AD30EB00E74}"/>
              </a:ext>
            </a:extLst>
          </p:cNvPr>
          <p:cNvSpPr>
            <a:spLocks noGrp="1"/>
          </p:cNvSpPr>
          <p:nvPr>
            <p:ph type="title"/>
          </p:nvPr>
        </p:nvSpPr>
        <p:spPr/>
        <p:txBody>
          <a:bodyPr/>
          <a:lstStyle/>
          <a:p>
            <a:r>
              <a:rPr lang="pt-BR" dirty="0" err="1"/>
              <a:t>Executive</a:t>
            </a:r>
            <a:r>
              <a:rPr lang="pt-BR" dirty="0"/>
              <a:t> </a:t>
            </a:r>
            <a:r>
              <a:rPr lang="pt-BR" dirty="0" err="1"/>
              <a:t>Summary</a:t>
            </a:r>
            <a:endParaRPr lang="en-US" dirty="0"/>
          </a:p>
        </p:txBody>
      </p:sp>
      <p:sp>
        <p:nvSpPr>
          <p:cNvPr id="3" name="Espaço Reservado para Conteúdo 2">
            <a:extLst>
              <a:ext uri="{FF2B5EF4-FFF2-40B4-BE49-F238E27FC236}">
                <a16:creationId xmlns:a16="http://schemas.microsoft.com/office/drawing/2014/main" id="{D9D7ECEE-BF2A-6E05-2458-AB75643A762A}"/>
              </a:ext>
            </a:extLst>
          </p:cNvPr>
          <p:cNvSpPr>
            <a:spLocks noGrp="1"/>
          </p:cNvSpPr>
          <p:nvPr>
            <p:ph idx="1"/>
          </p:nvPr>
        </p:nvSpPr>
        <p:spPr/>
        <p:txBody>
          <a:bodyPr>
            <a:normAutofit fontScale="92500" lnSpcReduction="10000"/>
          </a:bodyPr>
          <a:lstStyle/>
          <a:p>
            <a:r>
              <a:rPr lang="en-US" dirty="0"/>
              <a:t>Aqui é </a:t>
            </a:r>
            <a:r>
              <a:rPr lang="en-US" dirty="0" err="1"/>
              <a:t>onde</a:t>
            </a:r>
            <a:r>
              <a:rPr lang="en-US" dirty="0"/>
              <a:t> </a:t>
            </a:r>
            <a:r>
              <a:rPr lang="en-US" dirty="0" err="1"/>
              <a:t>entra</a:t>
            </a:r>
            <a:r>
              <a:rPr lang="en-US" dirty="0"/>
              <a:t> o </a:t>
            </a:r>
            <a:r>
              <a:rPr lang="en-US" i="1" dirty="0"/>
              <a:t>framing</a:t>
            </a:r>
            <a:r>
              <a:rPr lang="en-US" dirty="0"/>
              <a:t> </a:t>
            </a:r>
            <a:r>
              <a:rPr lang="en-US" dirty="0" err="1"/>
              <a:t>pessoal</a:t>
            </a:r>
            <a:r>
              <a:rPr lang="en-US" dirty="0"/>
              <a:t>, </a:t>
            </a:r>
            <a:r>
              <a:rPr lang="en-US" dirty="0" err="1"/>
              <a:t>não</a:t>
            </a:r>
            <a:r>
              <a:rPr lang="en-US" dirty="0"/>
              <a:t> </a:t>
            </a:r>
            <a:r>
              <a:rPr lang="en-US" dirty="0" err="1"/>
              <a:t>só</a:t>
            </a:r>
            <a:r>
              <a:rPr lang="en-US" dirty="0"/>
              <a:t> </a:t>
            </a:r>
            <a:r>
              <a:rPr lang="en-US" dirty="0" err="1"/>
              <a:t>os</a:t>
            </a:r>
            <a:r>
              <a:rPr lang="en-US" dirty="0"/>
              <a:t> </a:t>
            </a:r>
            <a:r>
              <a:rPr lang="en-US" dirty="0" err="1"/>
              <a:t>fatos</a:t>
            </a:r>
            <a:r>
              <a:rPr lang="en-US" dirty="0"/>
              <a:t>. </a:t>
            </a:r>
            <a:r>
              <a:rPr lang="en-US" dirty="0" err="1"/>
              <a:t>Sugestão</a:t>
            </a:r>
            <a:r>
              <a:rPr lang="en-US" dirty="0"/>
              <a:t> de </a:t>
            </a:r>
            <a:r>
              <a:rPr lang="en-US" dirty="0" err="1"/>
              <a:t>estrutura</a:t>
            </a:r>
            <a:r>
              <a:rPr lang="en-US" dirty="0"/>
              <a:t>: </a:t>
            </a:r>
            <a:r>
              <a:rPr lang="en-US" dirty="0" err="1"/>
              <a:t>em</a:t>
            </a:r>
            <a:r>
              <a:rPr lang="en-US" dirty="0"/>
              <a:t> </a:t>
            </a:r>
            <a:r>
              <a:rPr lang="en-US" dirty="0" err="1"/>
              <a:t>vez</a:t>
            </a:r>
            <a:r>
              <a:rPr lang="en-US" dirty="0"/>
              <a:t> de </a:t>
            </a:r>
            <a:r>
              <a:rPr lang="en-US" dirty="0" err="1"/>
              <a:t>listar</a:t>
            </a:r>
            <a:r>
              <a:rPr lang="en-US" dirty="0"/>
              <a:t> </a:t>
            </a:r>
            <a:r>
              <a:rPr lang="en-US" dirty="0" err="1"/>
              <a:t>os</a:t>
            </a:r>
            <a:r>
              <a:rPr lang="en-US" dirty="0"/>
              <a:t> </a:t>
            </a:r>
            <a:r>
              <a:rPr lang="en-US" dirty="0" err="1"/>
              <a:t>dois</a:t>
            </a:r>
            <a:r>
              <a:rPr lang="en-US" dirty="0"/>
              <a:t> </a:t>
            </a:r>
            <a:r>
              <a:rPr lang="en-US" dirty="0" err="1"/>
              <a:t>problemas</a:t>
            </a:r>
            <a:r>
              <a:rPr lang="en-US" dirty="0"/>
              <a:t> </a:t>
            </a:r>
            <a:r>
              <a:rPr lang="en-US" dirty="0" err="1"/>
              <a:t>separadamente</a:t>
            </a:r>
            <a:r>
              <a:rPr lang="en-US" dirty="0"/>
              <a:t> </a:t>
            </a:r>
            <a:r>
              <a:rPr lang="en-US" dirty="0" err="1"/>
              <a:t>como</a:t>
            </a:r>
            <a:r>
              <a:rPr lang="en-US" dirty="0"/>
              <a:t> o PDF </a:t>
            </a:r>
            <a:r>
              <a:rPr lang="en-US" dirty="0" err="1"/>
              <a:t>faz</a:t>
            </a:r>
            <a:r>
              <a:rPr lang="en-US" dirty="0"/>
              <a:t>, </a:t>
            </a:r>
            <a:r>
              <a:rPr lang="en-US" dirty="0" err="1"/>
              <a:t>você</a:t>
            </a:r>
            <a:r>
              <a:rPr lang="en-US" dirty="0"/>
              <a:t> </a:t>
            </a:r>
            <a:r>
              <a:rPr lang="en-US" dirty="0" err="1"/>
              <a:t>pode</a:t>
            </a:r>
            <a:r>
              <a:rPr lang="en-US" dirty="0"/>
              <a:t> </a:t>
            </a:r>
            <a:r>
              <a:rPr lang="en-US" dirty="0" err="1"/>
              <a:t>uni-los</a:t>
            </a:r>
            <a:r>
              <a:rPr lang="en-US" dirty="0"/>
              <a:t> sob </a:t>
            </a:r>
            <a:r>
              <a:rPr lang="en-US" dirty="0" err="1"/>
              <a:t>uma</a:t>
            </a:r>
            <a:r>
              <a:rPr lang="en-US" dirty="0"/>
              <a:t> </a:t>
            </a:r>
            <a:r>
              <a:rPr lang="en-US" dirty="0" err="1"/>
              <a:t>tese</a:t>
            </a:r>
            <a:r>
              <a:rPr lang="en-US" dirty="0"/>
              <a:t> </a:t>
            </a:r>
            <a:r>
              <a:rPr lang="en-US" dirty="0" err="1"/>
              <a:t>própria</a:t>
            </a:r>
            <a:r>
              <a:rPr lang="en-US" dirty="0"/>
              <a:t> — </a:t>
            </a:r>
            <a:r>
              <a:rPr lang="en-US" dirty="0" err="1"/>
              <a:t>por</a:t>
            </a:r>
            <a:r>
              <a:rPr lang="en-US" dirty="0"/>
              <a:t> </a:t>
            </a:r>
            <a:r>
              <a:rPr lang="en-US" dirty="0" err="1"/>
              <a:t>exemplo</a:t>
            </a:r>
            <a:r>
              <a:rPr lang="en-US" dirty="0"/>
              <a:t>, algo </a:t>
            </a:r>
            <a:r>
              <a:rPr lang="en-US" dirty="0" err="1"/>
              <a:t>como</a:t>
            </a:r>
            <a:r>
              <a:rPr lang="en-US" dirty="0"/>
              <a:t> "</a:t>
            </a:r>
            <a:r>
              <a:rPr lang="en-US" dirty="0" err="1"/>
              <a:t>os</a:t>
            </a:r>
            <a:r>
              <a:rPr lang="en-US" dirty="0"/>
              <a:t> </a:t>
            </a:r>
            <a:r>
              <a:rPr lang="en-US" dirty="0" err="1"/>
              <a:t>dois</a:t>
            </a:r>
            <a:r>
              <a:rPr lang="en-US" dirty="0"/>
              <a:t> </a:t>
            </a:r>
            <a:r>
              <a:rPr lang="en-US" dirty="0" err="1"/>
              <a:t>problemas</a:t>
            </a:r>
            <a:r>
              <a:rPr lang="en-US" dirty="0"/>
              <a:t> </a:t>
            </a:r>
            <a:r>
              <a:rPr lang="en-US" dirty="0" err="1"/>
              <a:t>nascem</a:t>
            </a:r>
            <a:r>
              <a:rPr lang="en-US" dirty="0"/>
              <a:t> da </a:t>
            </a:r>
            <a:r>
              <a:rPr lang="en-US" dirty="0" err="1"/>
              <a:t>mesma</a:t>
            </a:r>
            <a:r>
              <a:rPr lang="en-US" dirty="0"/>
              <a:t> causa: o </a:t>
            </a:r>
            <a:r>
              <a:rPr lang="en-US" dirty="0" err="1"/>
              <a:t>modelo</a:t>
            </a:r>
            <a:r>
              <a:rPr lang="en-US" dirty="0"/>
              <a:t> </a:t>
            </a:r>
            <a:r>
              <a:rPr lang="en-US" dirty="0" err="1"/>
              <a:t>trata</a:t>
            </a:r>
            <a:r>
              <a:rPr lang="en-US" dirty="0"/>
              <a:t> </a:t>
            </a:r>
            <a:r>
              <a:rPr lang="en-US" dirty="0" err="1"/>
              <a:t>categorias</a:t>
            </a:r>
            <a:r>
              <a:rPr lang="en-US" dirty="0"/>
              <a:t> e </a:t>
            </a:r>
            <a:r>
              <a:rPr lang="en-US" dirty="0" err="1"/>
              <a:t>canais</a:t>
            </a:r>
            <a:r>
              <a:rPr lang="en-US" dirty="0"/>
              <a:t> </a:t>
            </a:r>
            <a:r>
              <a:rPr lang="en-US" dirty="0" err="1"/>
              <a:t>como</a:t>
            </a:r>
            <a:r>
              <a:rPr lang="en-US" dirty="0"/>
              <a:t> </a:t>
            </a:r>
            <a:r>
              <a:rPr lang="en-US" dirty="0" err="1"/>
              <a:t>blocos</a:t>
            </a:r>
            <a:r>
              <a:rPr lang="en-US" dirty="0"/>
              <a:t> </a:t>
            </a:r>
            <a:r>
              <a:rPr lang="en-US" dirty="0" err="1"/>
              <a:t>homogêneos</a:t>
            </a:r>
            <a:r>
              <a:rPr lang="en-US" dirty="0"/>
              <a:t> </a:t>
            </a:r>
            <a:r>
              <a:rPr lang="en-US" dirty="0" err="1"/>
              <a:t>quando</a:t>
            </a:r>
            <a:r>
              <a:rPr lang="en-US" dirty="0"/>
              <a:t> </a:t>
            </a:r>
            <a:r>
              <a:rPr lang="en-US" dirty="0" err="1"/>
              <a:t>não</a:t>
            </a:r>
            <a:r>
              <a:rPr lang="en-US" dirty="0"/>
              <a:t> </a:t>
            </a:r>
            <a:r>
              <a:rPr lang="en-US" dirty="0" err="1"/>
              <a:t>são</a:t>
            </a:r>
            <a:r>
              <a:rPr lang="en-US" dirty="0"/>
              <a:t>." </a:t>
            </a:r>
            <a:r>
              <a:rPr lang="en-US" dirty="0" err="1"/>
              <a:t>Isso</a:t>
            </a:r>
            <a:r>
              <a:rPr lang="en-US" dirty="0"/>
              <a:t> </a:t>
            </a:r>
            <a:r>
              <a:rPr lang="en-US" dirty="0" err="1"/>
              <a:t>já</a:t>
            </a:r>
            <a:r>
              <a:rPr lang="en-US" dirty="0"/>
              <a:t> </a:t>
            </a:r>
            <a:r>
              <a:rPr lang="en-US" dirty="0" err="1"/>
              <a:t>sinaliza</a:t>
            </a:r>
            <a:r>
              <a:rPr lang="en-US" dirty="0"/>
              <a:t> </a:t>
            </a:r>
            <a:r>
              <a:rPr lang="en-US" dirty="0" err="1"/>
              <a:t>pra</a:t>
            </a:r>
            <a:r>
              <a:rPr lang="en-US" dirty="0"/>
              <a:t> </a:t>
            </a:r>
            <a:r>
              <a:rPr lang="en-US" dirty="0" err="1"/>
              <a:t>audiência</a:t>
            </a:r>
            <a:r>
              <a:rPr lang="en-US" dirty="0"/>
              <a:t>, antes de </a:t>
            </a:r>
            <a:r>
              <a:rPr lang="en-US" dirty="0" err="1"/>
              <a:t>qualquer</a:t>
            </a:r>
            <a:r>
              <a:rPr lang="en-US" dirty="0"/>
              <a:t> </a:t>
            </a:r>
            <a:r>
              <a:rPr lang="en-US" dirty="0" err="1"/>
              <a:t>detalhe</a:t>
            </a:r>
            <a:r>
              <a:rPr lang="en-US" dirty="0"/>
              <a:t> </a:t>
            </a:r>
            <a:r>
              <a:rPr lang="en-US" dirty="0" err="1"/>
              <a:t>técnico</a:t>
            </a:r>
            <a:r>
              <a:rPr lang="en-US" dirty="0"/>
              <a:t>, </a:t>
            </a:r>
            <a:r>
              <a:rPr lang="en-US" dirty="0" err="1"/>
              <a:t>que</a:t>
            </a:r>
            <a:r>
              <a:rPr lang="en-US" dirty="0"/>
              <a:t> </a:t>
            </a:r>
            <a:r>
              <a:rPr lang="en-US" dirty="0" err="1"/>
              <a:t>existe</a:t>
            </a:r>
            <a:r>
              <a:rPr lang="en-US" dirty="0"/>
              <a:t> </a:t>
            </a:r>
            <a:r>
              <a:rPr lang="en-US" dirty="0" err="1"/>
              <a:t>uma</a:t>
            </a:r>
            <a:r>
              <a:rPr lang="en-US" dirty="0"/>
              <a:t> </a:t>
            </a:r>
            <a:r>
              <a:rPr lang="en-US" dirty="0" err="1"/>
              <a:t>conexão</a:t>
            </a:r>
            <a:r>
              <a:rPr lang="en-US" dirty="0"/>
              <a:t> entre write-off/stock-out e a </a:t>
            </a:r>
            <a:r>
              <a:rPr lang="en-US" dirty="0" err="1"/>
              <a:t>decomposição</a:t>
            </a:r>
            <a:r>
              <a:rPr lang="en-US" dirty="0"/>
              <a:t> quebrada — o </a:t>
            </a:r>
            <a:r>
              <a:rPr lang="en-US" dirty="0" err="1"/>
              <a:t>que</a:t>
            </a:r>
            <a:r>
              <a:rPr lang="en-US" dirty="0"/>
              <a:t> </a:t>
            </a:r>
            <a:r>
              <a:rPr lang="en-US" dirty="0" err="1"/>
              <a:t>paga</a:t>
            </a:r>
            <a:r>
              <a:rPr lang="en-US" dirty="0"/>
              <a:t> </a:t>
            </a:r>
            <a:r>
              <a:rPr lang="en-US" dirty="0" err="1"/>
              <a:t>dividendos</a:t>
            </a:r>
            <a:r>
              <a:rPr lang="en-US" dirty="0"/>
              <a:t> </a:t>
            </a:r>
            <a:r>
              <a:rPr lang="en-US" dirty="0" err="1"/>
              <a:t>quando</a:t>
            </a:r>
            <a:r>
              <a:rPr lang="en-US" dirty="0"/>
              <a:t> </a:t>
            </a:r>
            <a:r>
              <a:rPr lang="en-US" dirty="0" err="1"/>
              <a:t>você</a:t>
            </a:r>
            <a:r>
              <a:rPr lang="en-US" dirty="0"/>
              <a:t> </a:t>
            </a:r>
            <a:r>
              <a:rPr lang="en-US" dirty="0" err="1"/>
              <a:t>chegar</a:t>
            </a:r>
            <a:r>
              <a:rPr lang="en-US" dirty="0"/>
              <a:t> </a:t>
            </a:r>
            <a:r>
              <a:rPr lang="en-US" dirty="0" err="1"/>
              <a:t>na</a:t>
            </a:r>
            <a:r>
              <a:rPr lang="en-US" dirty="0"/>
              <a:t> </a:t>
            </a:r>
            <a:r>
              <a:rPr lang="en-US" dirty="0" err="1"/>
              <a:t>Pergunta</a:t>
            </a:r>
            <a:r>
              <a:rPr lang="en-US" dirty="0"/>
              <a:t> 1 e 2.</a:t>
            </a:r>
          </a:p>
          <a:p>
            <a:r>
              <a:rPr lang="en-US" dirty="0" err="1"/>
              <a:t>Problema</a:t>
            </a:r>
            <a:r>
              <a:rPr lang="en-US" dirty="0"/>
              <a:t> 1 </a:t>
            </a:r>
            <a:r>
              <a:rPr lang="en-US" dirty="0" err="1"/>
              <a:t>em</a:t>
            </a:r>
            <a:r>
              <a:rPr lang="en-US" dirty="0"/>
              <a:t> </a:t>
            </a:r>
            <a:r>
              <a:rPr lang="en-US" dirty="0" err="1"/>
              <a:t>números</a:t>
            </a:r>
            <a:r>
              <a:rPr lang="en-US" dirty="0"/>
              <a:t>: write-off 8,2% (meta &lt;2%), </a:t>
            </a:r>
          </a:p>
          <a:p>
            <a:r>
              <a:rPr lang="en-US" dirty="0"/>
              <a:t>$1.2M </a:t>
            </a:r>
            <a:r>
              <a:rPr lang="en-US" dirty="0" err="1"/>
              <a:t>perdidos</a:t>
            </a:r>
            <a:r>
              <a:rPr lang="en-US" dirty="0"/>
              <a:t>, stock-outs </a:t>
            </a:r>
            <a:r>
              <a:rPr lang="en-US" dirty="0" err="1"/>
              <a:t>em</a:t>
            </a:r>
            <a:r>
              <a:rPr lang="en-US" dirty="0"/>
              <a:t> E-commerce </a:t>
            </a:r>
            <a:r>
              <a:rPr lang="en-US" dirty="0" err="1"/>
              <a:t>Problema</a:t>
            </a:r>
            <a:r>
              <a:rPr lang="en-US" dirty="0"/>
              <a:t> 2 </a:t>
            </a:r>
            <a:r>
              <a:rPr lang="en-US" dirty="0" err="1"/>
              <a:t>em</a:t>
            </a:r>
            <a:r>
              <a:rPr lang="en-US" dirty="0"/>
              <a:t> </a:t>
            </a:r>
            <a:r>
              <a:rPr lang="en-US" dirty="0" err="1"/>
              <a:t>números</a:t>
            </a:r>
            <a:r>
              <a:rPr lang="en-US" dirty="0"/>
              <a:t>: </a:t>
            </a:r>
            <a:r>
              <a:rPr lang="en-US" dirty="0" err="1"/>
              <a:t>preço</a:t>
            </a:r>
            <a:r>
              <a:rPr lang="en-US" dirty="0"/>
              <a:t> com </a:t>
            </a:r>
            <a:r>
              <a:rPr lang="en-US" dirty="0" err="1"/>
              <a:t>sinal</a:t>
            </a:r>
            <a:r>
              <a:rPr lang="en-US" dirty="0"/>
              <a:t> </a:t>
            </a:r>
            <a:r>
              <a:rPr lang="en-US" dirty="0" err="1"/>
              <a:t>errado</a:t>
            </a:r>
            <a:r>
              <a:rPr lang="en-US" dirty="0"/>
              <a:t>, </a:t>
            </a:r>
            <a:r>
              <a:rPr lang="en-US" dirty="0" err="1"/>
              <a:t>promoção</a:t>
            </a:r>
            <a:r>
              <a:rPr lang="en-US" dirty="0"/>
              <a:t> </a:t>
            </a:r>
            <a:r>
              <a:rPr lang="en-US" dirty="0" err="1"/>
              <a:t>capturando</a:t>
            </a:r>
            <a:r>
              <a:rPr lang="en-US" dirty="0"/>
              <a:t> 40% </a:t>
            </a:r>
            <a:r>
              <a:rPr lang="en-US" dirty="0" err="1"/>
              <a:t>quando</a:t>
            </a:r>
            <a:r>
              <a:rPr lang="en-US" dirty="0"/>
              <a:t> </a:t>
            </a:r>
            <a:r>
              <a:rPr lang="en-US" dirty="0" err="1"/>
              <a:t>deveria</a:t>
            </a:r>
            <a:r>
              <a:rPr lang="en-US" dirty="0"/>
              <a:t> ser </a:t>
            </a:r>
            <a:r>
              <a:rPr lang="en-US" dirty="0" err="1"/>
              <a:t>Publicidade</a:t>
            </a:r>
            <a:r>
              <a:rPr lang="en-US" dirty="0"/>
              <a:t> A </a:t>
            </a:r>
            <a:r>
              <a:rPr lang="en-US" dirty="0" err="1"/>
              <a:t>frase</a:t>
            </a:r>
            <a:r>
              <a:rPr lang="en-US" dirty="0"/>
              <a:t> de </a:t>
            </a:r>
            <a:r>
              <a:rPr lang="en-US" dirty="0" err="1"/>
              <a:t>conexão</a:t>
            </a:r>
            <a:r>
              <a:rPr lang="en-US" dirty="0"/>
              <a:t>/</a:t>
            </a:r>
            <a:r>
              <a:rPr lang="en-US" dirty="0" err="1"/>
              <a:t>tese</a:t>
            </a:r>
            <a:r>
              <a:rPr lang="en-US" dirty="0"/>
              <a:t> </a:t>
            </a:r>
            <a:r>
              <a:rPr lang="en-US" dirty="0" err="1"/>
              <a:t>acima</a:t>
            </a:r>
            <a:endParaRPr lang="en-US" dirty="0"/>
          </a:p>
        </p:txBody>
      </p:sp>
    </p:spTree>
    <p:extLst>
      <p:ext uri="{BB962C8B-B14F-4D97-AF65-F5344CB8AC3E}">
        <p14:creationId xmlns:p14="http://schemas.microsoft.com/office/powerpoint/2010/main" val="42351370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296D4F-4178-624A-7E69-642A5423316D}"/>
              </a:ext>
            </a:extLst>
          </p:cNvPr>
          <p:cNvSpPr>
            <a:spLocks noGrp="1"/>
          </p:cNvSpPr>
          <p:nvPr>
            <p:ph type="title"/>
          </p:nvPr>
        </p:nvSpPr>
        <p:spPr/>
        <p:txBody>
          <a:bodyPr/>
          <a:lstStyle/>
          <a:p>
            <a:r>
              <a:rPr lang="pt-BR" dirty="0" err="1"/>
              <a:t>Executive</a:t>
            </a:r>
            <a:r>
              <a:rPr lang="pt-BR" dirty="0"/>
              <a:t> </a:t>
            </a:r>
            <a:r>
              <a:rPr lang="pt-BR" dirty="0" err="1"/>
              <a:t>Summary</a:t>
            </a:r>
            <a:endParaRPr lang="en-US" dirty="0"/>
          </a:p>
        </p:txBody>
      </p:sp>
      <p:sp>
        <p:nvSpPr>
          <p:cNvPr id="3" name="Espaço Reservado para Conteúdo 2">
            <a:extLst>
              <a:ext uri="{FF2B5EF4-FFF2-40B4-BE49-F238E27FC236}">
                <a16:creationId xmlns:a16="http://schemas.microsoft.com/office/drawing/2014/main" id="{0EFF451B-3BAA-3C59-D4CA-4B76EA3EA1F4}"/>
              </a:ext>
            </a:extLst>
          </p:cNvPr>
          <p:cNvSpPr>
            <a:spLocks noGrp="1"/>
          </p:cNvSpPr>
          <p:nvPr>
            <p:ph idx="1"/>
          </p:nvPr>
        </p:nvSpPr>
        <p:spPr/>
        <p:txBody>
          <a:bodyPr/>
          <a:lstStyle/>
          <a:p>
            <a:r>
              <a:rPr lang="en-US" b="1" dirty="0"/>
              <a:t>Por </a:t>
            </a:r>
            <a:r>
              <a:rPr lang="en-US" b="1" dirty="0" err="1"/>
              <a:t>que</a:t>
            </a:r>
            <a:r>
              <a:rPr lang="en-US" b="1" dirty="0"/>
              <a:t> </a:t>
            </a:r>
            <a:r>
              <a:rPr lang="en-US" b="1" dirty="0" err="1"/>
              <a:t>isso</a:t>
            </a:r>
            <a:r>
              <a:rPr lang="en-US" b="1" dirty="0"/>
              <a:t> </a:t>
            </a:r>
            <a:r>
              <a:rPr lang="en-US" b="1" dirty="0" err="1"/>
              <a:t>importa</a:t>
            </a:r>
            <a:r>
              <a:rPr lang="en-US" b="1" dirty="0"/>
              <a:t> agora / o </a:t>
            </a:r>
            <a:r>
              <a:rPr lang="en-US" b="1" dirty="0" err="1"/>
              <a:t>que</a:t>
            </a:r>
            <a:r>
              <a:rPr lang="en-US" b="1" dirty="0"/>
              <a:t> </a:t>
            </a:r>
            <a:r>
              <a:rPr lang="en-US" b="1" dirty="0" err="1"/>
              <a:t>está</a:t>
            </a:r>
            <a:r>
              <a:rPr lang="en-US" b="1" dirty="0"/>
              <a:t> </a:t>
            </a:r>
            <a:r>
              <a:rPr lang="en-US" b="1" dirty="0" err="1"/>
              <a:t>em</a:t>
            </a:r>
            <a:r>
              <a:rPr lang="en-US" b="1" dirty="0"/>
              <a:t> </a:t>
            </a:r>
            <a:r>
              <a:rPr lang="en-US" b="1" dirty="0" err="1"/>
              <a:t>jogo</a:t>
            </a:r>
            <a:br>
              <a:rPr lang="en-US" dirty="0"/>
            </a:br>
            <a:r>
              <a:rPr lang="en-US" dirty="0" err="1"/>
              <a:t>Fecha</a:t>
            </a:r>
            <a:r>
              <a:rPr lang="en-US" dirty="0"/>
              <a:t> a </a:t>
            </a:r>
            <a:r>
              <a:rPr lang="en-US" dirty="0" err="1"/>
              <a:t>seção</a:t>
            </a:r>
            <a:r>
              <a:rPr lang="en-US" dirty="0"/>
              <a:t> </a:t>
            </a:r>
            <a:r>
              <a:rPr lang="en-US" dirty="0" err="1"/>
              <a:t>conectando</a:t>
            </a:r>
            <a:r>
              <a:rPr lang="en-US" dirty="0"/>
              <a:t> com </a:t>
            </a:r>
            <a:r>
              <a:rPr lang="en-US" dirty="0" err="1"/>
              <a:t>decisões</a:t>
            </a:r>
            <a:r>
              <a:rPr lang="en-US" dirty="0"/>
              <a:t> de </a:t>
            </a:r>
            <a:r>
              <a:rPr lang="en-US" dirty="0" err="1"/>
              <a:t>negócio</a:t>
            </a:r>
            <a:r>
              <a:rPr lang="en-US" dirty="0"/>
              <a:t> </a:t>
            </a:r>
            <a:r>
              <a:rPr lang="en-US" dirty="0" err="1"/>
              <a:t>já</a:t>
            </a:r>
            <a:r>
              <a:rPr lang="en-US" dirty="0"/>
              <a:t> </a:t>
            </a:r>
            <a:r>
              <a:rPr lang="en-US" dirty="0" err="1"/>
              <a:t>tomadas</a:t>
            </a:r>
            <a:r>
              <a:rPr lang="en-US" dirty="0"/>
              <a:t> com base no </a:t>
            </a:r>
            <a:r>
              <a:rPr lang="en-US" dirty="0" err="1"/>
              <a:t>modelo</a:t>
            </a:r>
            <a:r>
              <a:rPr lang="en-US" dirty="0"/>
              <a:t> </a:t>
            </a:r>
            <a:r>
              <a:rPr lang="en-US" dirty="0" err="1"/>
              <a:t>quebrado</a:t>
            </a:r>
            <a:r>
              <a:rPr lang="en-US" dirty="0"/>
              <a:t> — </a:t>
            </a:r>
            <a:r>
              <a:rPr lang="en-US" dirty="0" err="1"/>
              <a:t>os</a:t>
            </a:r>
            <a:r>
              <a:rPr lang="en-US" dirty="0"/>
              <a:t> </a:t>
            </a:r>
            <a:r>
              <a:rPr lang="en-US" dirty="0" err="1"/>
              <a:t>dois</a:t>
            </a:r>
            <a:r>
              <a:rPr lang="en-US" dirty="0"/>
              <a:t> </a:t>
            </a:r>
            <a:r>
              <a:rPr lang="en-US" dirty="0" err="1"/>
              <a:t>exemplos</a:t>
            </a:r>
            <a:r>
              <a:rPr lang="en-US" dirty="0"/>
              <a:t> </a:t>
            </a:r>
            <a:r>
              <a:rPr lang="en-US" dirty="0" err="1"/>
              <a:t>que</a:t>
            </a:r>
            <a:r>
              <a:rPr lang="en-US" dirty="0"/>
              <a:t> o case </a:t>
            </a:r>
            <a:r>
              <a:rPr lang="en-US" dirty="0" err="1"/>
              <a:t>já</a:t>
            </a:r>
            <a:r>
              <a:rPr lang="en-US" dirty="0"/>
              <a:t> </a:t>
            </a:r>
            <a:r>
              <a:rPr lang="en-US" dirty="0" err="1"/>
              <a:t>dá</a:t>
            </a:r>
            <a:r>
              <a:rPr lang="en-US" dirty="0"/>
              <a:t> </a:t>
            </a:r>
            <a:r>
              <a:rPr lang="en-US" dirty="0" err="1"/>
              <a:t>são</a:t>
            </a:r>
            <a:r>
              <a:rPr lang="en-US" dirty="0"/>
              <a:t> </a:t>
            </a:r>
            <a:r>
              <a:rPr lang="en-US" dirty="0" err="1"/>
              <a:t>ótimos</a:t>
            </a:r>
            <a:r>
              <a:rPr lang="en-US" dirty="0"/>
              <a:t> </a:t>
            </a:r>
            <a:r>
              <a:rPr lang="en-US" dirty="0" err="1"/>
              <a:t>aqui</a:t>
            </a:r>
            <a:r>
              <a:rPr lang="en-US" dirty="0"/>
              <a:t>: o </a:t>
            </a:r>
            <a:r>
              <a:rPr lang="en-US" dirty="0" err="1"/>
              <a:t>aumento</a:t>
            </a:r>
            <a:r>
              <a:rPr lang="en-US" dirty="0"/>
              <a:t> de 35% </a:t>
            </a:r>
            <a:r>
              <a:rPr lang="en-US" dirty="0" err="1"/>
              <a:t>em</a:t>
            </a:r>
            <a:r>
              <a:rPr lang="en-US" dirty="0"/>
              <a:t> </a:t>
            </a:r>
            <a:r>
              <a:rPr lang="en-US" dirty="0" err="1"/>
              <a:t>investimento</a:t>
            </a:r>
            <a:r>
              <a:rPr lang="en-US" dirty="0"/>
              <a:t> de </a:t>
            </a:r>
            <a:r>
              <a:rPr lang="en-US" dirty="0" err="1"/>
              <a:t>Publicidade</a:t>
            </a:r>
            <a:r>
              <a:rPr lang="en-US" dirty="0"/>
              <a:t>/</a:t>
            </a:r>
            <a:r>
              <a:rPr lang="en-US" dirty="0" err="1"/>
              <a:t>Promoção</a:t>
            </a:r>
            <a:r>
              <a:rPr lang="en-US" dirty="0"/>
              <a:t> </a:t>
            </a:r>
            <a:r>
              <a:rPr lang="en-US" dirty="0" err="1"/>
              <a:t>em</a:t>
            </a:r>
            <a:r>
              <a:rPr lang="en-US" dirty="0"/>
              <a:t> E-commerce </a:t>
            </a:r>
            <a:r>
              <a:rPr lang="en-US" dirty="0" err="1"/>
              <a:t>sem</a:t>
            </a:r>
            <a:r>
              <a:rPr lang="en-US" dirty="0"/>
              <a:t> </a:t>
            </a:r>
            <a:r>
              <a:rPr lang="en-US" dirty="0" err="1"/>
              <a:t>retorno</a:t>
            </a:r>
            <a:r>
              <a:rPr lang="en-US" dirty="0"/>
              <a:t> incremental, e a </a:t>
            </a:r>
            <a:r>
              <a:rPr lang="en-US" dirty="0" err="1"/>
              <a:t>redução</a:t>
            </a:r>
            <a:r>
              <a:rPr lang="en-US" dirty="0"/>
              <a:t> de </a:t>
            </a:r>
            <a:r>
              <a:rPr lang="en-US" dirty="0" err="1"/>
              <a:t>preço</a:t>
            </a:r>
            <a:r>
              <a:rPr lang="en-US" dirty="0"/>
              <a:t> do Natural Juice </a:t>
            </a:r>
            <a:r>
              <a:rPr lang="en-US" dirty="0" err="1"/>
              <a:t>que</a:t>
            </a:r>
            <a:r>
              <a:rPr lang="en-US" dirty="0"/>
              <a:t> "</a:t>
            </a:r>
            <a:r>
              <a:rPr lang="en-US" dirty="0" err="1"/>
              <a:t>não</a:t>
            </a:r>
            <a:r>
              <a:rPr lang="en-US" dirty="0"/>
              <a:t> fez nada". </a:t>
            </a:r>
            <a:r>
              <a:rPr lang="en-US" dirty="0" err="1"/>
              <a:t>Isso</a:t>
            </a:r>
            <a:r>
              <a:rPr lang="en-US" dirty="0"/>
              <a:t> é forte </a:t>
            </a:r>
            <a:r>
              <a:rPr lang="en-US" dirty="0" err="1"/>
              <a:t>porque</a:t>
            </a:r>
            <a:r>
              <a:rPr lang="en-US" dirty="0"/>
              <a:t> </a:t>
            </a:r>
            <a:r>
              <a:rPr lang="en-US" dirty="0" err="1"/>
              <a:t>mostra</a:t>
            </a:r>
            <a:r>
              <a:rPr lang="en-US" dirty="0"/>
              <a:t> </a:t>
            </a:r>
            <a:r>
              <a:rPr lang="en-US" dirty="0" err="1"/>
              <a:t>dinheiro</a:t>
            </a:r>
            <a:r>
              <a:rPr lang="en-US" dirty="0"/>
              <a:t> real </a:t>
            </a:r>
            <a:r>
              <a:rPr lang="en-US" dirty="0" err="1"/>
              <a:t>sendo</a:t>
            </a:r>
            <a:r>
              <a:rPr lang="en-US" dirty="0"/>
              <a:t> mal </a:t>
            </a:r>
            <a:r>
              <a:rPr lang="en-US" dirty="0" err="1"/>
              <a:t>alocado</a:t>
            </a:r>
            <a:r>
              <a:rPr lang="en-US" dirty="0"/>
              <a:t> </a:t>
            </a:r>
            <a:r>
              <a:rPr lang="en-US" dirty="0" err="1"/>
              <a:t>por</a:t>
            </a:r>
            <a:r>
              <a:rPr lang="en-US" dirty="0"/>
              <a:t> causa do </a:t>
            </a:r>
            <a:r>
              <a:rPr lang="en-US" dirty="0" err="1"/>
              <a:t>modelo</a:t>
            </a:r>
            <a:r>
              <a:rPr lang="en-US" dirty="0"/>
              <a:t> — </a:t>
            </a:r>
            <a:r>
              <a:rPr lang="en-US" dirty="0" err="1"/>
              <a:t>não</a:t>
            </a:r>
            <a:r>
              <a:rPr lang="en-US" dirty="0"/>
              <a:t> é </a:t>
            </a:r>
            <a:r>
              <a:rPr lang="en-US" dirty="0" err="1"/>
              <a:t>só</a:t>
            </a:r>
            <a:r>
              <a:rPr lang="en-US" dirty="0"/>
              <a:t> um </a:t>
            </a:r>
            <a:r>
              <a:rPr lang="en-US" dirty="0" err="1"/>
              <a:t>problema</a:t>
            </a:r>
            <a:r>
              <a:rPr lang="en-US" dirty="0"/>
              <a:t> </a:t>
            </a:r>
            <a:r>
              <a:rPr lang="en-US" dirty="0" err="1"/>
              <a:t>técnico</a:t>
            </a:r>
            <a:r>
              <a:rPr lang="en-US" dirty="0"/>
              <a:t> </a:t>
            </a:r>
            <a:r>
              <a:rPr lang="en-US" dirty="0" err="1"/>
              <a:t>abstrato</a:t>
            </a:r>
            <a:r>
              <a:rPr lang="en-US" dirty="0"/>
              <a:t>, é um </a:t>
            </a:r>
            <a:r>
              <a:rPr lang="en-US" dirty="0" err="1"/>
              <a:t>problema</a:t>
            </a:r>
            <a:r>
              <a:rPr lang="en-US" dirty="0"/>
              <a:t> com </a:t>
            </a:r>
            <a:r>
              <a:rPr lang="en-US" dirty="0" err="1"/>
              <a:t>custo</a:t>
            </a:r>
            <a:r>
              <a:rPr lang="en-US" dirty="0"/>
              <a:t> de </a:t>
            </a:r>
            <a:r>
              <a:rPr lang="en-US" dirty="0" err="1"/>
              <a:t>decisão</a:t>
            </a:r>
            <a:r>
              <a:rPr lang="en-US" dirty="0"/>
              <a:t>. </a:t>
            </a:r>
            <a:r>
              <a:rPr lang="en-US" dirty="0" err="1"/>
              <a:t>Encerre</a:t>
            </a:r>
            <a:r>
              <a:rPr lang="en-US" dirty="0"/>
              <a:t> com </a:t>
            </a:r>
            <a:r>
              <a:rPr lang="en-US" dirty="0" err="1"/>
              <a:t>uma</a:t>
            </a:r>
            <a:r>
              <a:rPr lang="en-US" dirty="0"/>
              <a:t> </a:t>
            </a:r>
            <a:r>
              <a:rPr lang="en-US" dirty="0" err="1"/>
              <a:t>frase-ponte</a:t>
            </a:r>
            <a:r>
              <a:rPr lang="en-US" dirty="0"/>
              <a:t> </a:t>
            </a:r>
            <a:r>
              <a:rPr lang="en-US" dirty="0" err="1"/>
              <a:t>tipo</a:t>
            </a:r>
            <a:r>
              <a:rPr lang="en-US" dirty="0"/>
              <a:t> "</a:t>
            </a:r>
            <a:r>
              <a:rPr lang="en-US" dirty="0" err="1"/>
              <a:t>então</a:t>
            </a:r>
            <a:r>
              <a:rPr lang="en-US" dirty="0"/>
              <a:t> a </a:t>
            </a:r>
            <a:r>
              <a:rPr lang="en-US" dirty="0" err="1"/>
              <a:t>pergunta</a:t>
            </a:r>
            <a:r>
              <a:rPr lang="en-US" dirty="0"/>
              <a:t> </a:t>
            </a:r>
            <a:r>
              <a:rPr lang="en-US" dirty="0" err="1"/>
              <a:t>não</a:t>
            </a:r>
            <a:r>
              <a:rPr lang="en-US" dirty="0"/>
              <a:t> é </a:t>
            </a:r>
            <a:r>
              <a:rPr lang="en-US" dirty="0" err="1"/>
              <a:t>só</a:t>
            </a:r>
            <a:r>
              <a:rPr lang="en-US" dirty="0"/>
              <a:t> 'o </a:t>
            </a:r>
            <a:r>
              <a:rPr lang="en-US" dirty="0" err="1"/>
              <a:t>modelo</a:t>
            </a:r>
            <a:r>
              <a:rPr lang="en-US" dirty="0"/>
              <a:t> </a:t>
            </a:r>
            <a:r>
              <a:rPr lang="en-US" dirty="0" err="1"/>
              <a:t>está</a:t>
            </a:r>
            <a:r>
              <a:rPr lang="en-US" dirty="0"/>
              <a:t> </a:t>
            </a:r>
            <a:r>
              <a:rPr lang="en-US" dirty="0" err="1"/>
              <a:t>certo</a:t>
            </a:r>
            <a:r>
              <a:rPr lang="en-US" dirty="0"/>
              <a:t>', é '</a:t>
            </a:r>
            <a:r>
              <a:rPr lang="en-US" dirty="0" err="1"/>
              <a:t>quanto</a:t>
            </a:r>
            <a:r>
              <a:rPr lang="en-US" dirty="0"/>
              <a:t> </a:t>
            </a:r>
            <a:r>
              <a:rPr lang="en-US" dirty="0" err="1"/>
              <a:t>dinheiro</a:t>
            </a:r>
            <a:r>
              <a:rPr lang="en-US" dirty="0"/>
              <a:t> </a:t>
            </a:r>
            <a:r>
              <a:rPr lang="en-US" dirty="0" err="1"/>
              <a:t>estamos</a:t>
            </a:r>
            <a:r>
              <a:rPr lang="en-US" dirty="0"/>
              <a:t> </a:t>
            </a:r>
            <a:r>
              <a:rPr lang="en-US" dirty="0" err="1"/>
              <a:t>perdendo</a:t>
            </a:r>
            <a:r>
              <a:rPr lang="en-US" dirty="0"/>
              <a:t> </a:t>
            </a:r>
            <a:r>
              <a:rPr lang="en-US" dirty="0" err="1"/>
              <a:t>por</a:t>
            </a:r>
            <a:r>
              <a:rPr lang="en-US" dirty="0"/>
              <a:t> </a:t>
            </a:r>
            <a:r>
              <a:rPr lang="en-US" dirty="0" err="1"/>
              <a:t>confiar</a:t>
            </a:r>
            <a:r>
              <a:rPr lang="en-US" dirty="0"/>
              <a:t> </a:t>
            </a:r>
            <a:r>
              <a:rPr lang="en-US" dirty="0" err="1"/>
              <a:t>nele</a:t>
            </a:r>
            <a:r>
              <a:rPr lang="en-US" dirty="0"/>
              <a:t>' — e é </a:t>
            </a:r>
            <a:r>
              <a:rPr lang="en-US" dirty="0" err="1"/>
              <a:t>isso</a:t>
            </a:r>
            <a:r>
              <a:rPr lang="en-US" dirty="0"/>
              <a:t> </a:t>
            </a:r>
            <a:r>
              <a:rPr lang="en-US" dirty="0" err="1"/>
              <a:t>que</a:t>
            </a:r>
            <a:r>
              <a:rPr lang="en-US" dirty="0"/>
              <a:t> </a:t>
            </a:r>
            <a:r>
              <a:rPr lang="en-US" dirty="0" err="1"/>
              <a:t>vamos</a:t>
            </a:r>
            <a:r>
              <a:rPr lang="en-US" dirty="0"/>
              <a:t> </a:t>
            </a:r>
            <a:r>
              <a:rPr lang="en-US" dirty="0" err="1"/>
              <a:t>diagnosticar</a:t>
            </a:r>
            <a:r>
              <a:rPr lang="en-US" dirty="0"/>
              <a:t> agora."</a:t>
            </a:r>
          </a:p>
        </p:txBody>
      </p:sp>
    </p:spTree>
    <p:extLst>
      <p:ext uri="{BB962C8B-B14F-4D97-AF65-F5344CB8AC3E}">
        <p14:creationId xmlns:p14="http://schemas.microsoft.com/office/powerpoint/2010/main" val="6965473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F8AF1E1-9EC3-71EA-D4EB-070C087E1465}"/>
              </a:ext>
            </a:extLst>
          </p:cNvPr>
          <p:cNvSpPr>
            <a:spLocks noGrp="1"/>
          </p:cNvSpPr>
          <p:nvPr>
            <p:ph type="title"/>
          </p:nvPr>
        </p:nvSpPr>
        <p:spPr/>
        <p:txBody>
          <a:bodyPr/>
          <a:lstStyle/>
          <a:p>
            <a:r>
              <a:rPr lang="pt-BR" dirty="0" err="1"/>
              <a:t>Question</a:t>
            </a:r>
            <a:r>
              <a:rPr lang="pt-BR" dirty="0"/>
              <a:t> 1 - </a:t>
            </a:r>
            <a:r>
              <a:rPr lang="en-US" dirty="0"/>
              <a:t>What is the current status of the forecasting and decomposition system? </a:t>
            </a:r>
          </a:p>
        </p:txBody>
      </p:sp>
      <p:sp>
        <p:nvSpPr>
          <p:cNvPr id="3" name="Espaço Reservado para Conteúdo 2">
            <a:extLst>
              <a:ext uri="{FF2B5EF4-FFF2-40B4-BE49-F238E27FC236}">
                <a16:creationId xmlns:a16="http://schemas.microsoft.com/office/drawing/2014/main" id="{B0B3F3DE-1664-6447-99BC-B9716C6420A9}"/>
              </a:ext>
            </a:extLst>
          </p:cNvPr>
          <p:cNvSpPr>
            <a:spLocks noGrp="1"/>
          </p:cNvSpPr>
          <p:nvPr>
            <p:ph idx="1"/>
          </p:nvPr>
        </p:nvSpPr>
        <p:spPr/>
        <p:txBody>
          <a:bodyPr/>
          <a:lstStyle/>
          <a:p>
            <a:r>
              <a:rPr lang="en-US" b="1" dirty="0"/>
              <a:t>O </a:t>
            </a:r>
            <a:r>
              <a:rPr lang="en-US" b="1" dirty="0" err="1"/>
              <a:t>problema</a:t>
            </a:r>
            <a:r>
              <a:rPr lang="en-US" b="1" dirty="0"/>
              <a:t> </a:t>
            </a:r>
            <a:r>
              <a:rPr lang="en-US" b="1" dirty="0" err="1"/>
              <a:t>em</a:t>
            </a:r>
            <a:r>
              <a:rPr lang="en-US" b="1" dirty="0"/>
              <a:t> </a:t>
            </a:r>
            <a:r>
              <a:rPr lang="en-US" b="1" dirty="0" err="1"/>
              <a:t>números</a:t>
            </a:r>
            <a:br>
              <a:rPr lang="en-US" dirty="0"/>
            </a:br>
            <a:r>
              <a:rPr lang="en-US" dirty="0" err="1"/>
              <a:t>Recontextualiza</a:t>
            </a:r>
            <a:r>
              <a:rPr lang="en-US" dirty="0"/>
              <a:t> </a:t>
            </a:r>
            <a:r>
              <a:rPr lang="en-US" dirty="0" err="1"/>
              <a:t>os</a:t>
            </a:r>
            <a:r>
              <a:rPr lang="en-US" dirty="0"/>
              <a:t> </a:t>
            </a:r>
            <a:r>
              <a:rPr lang="en-US" dirty="0" err="1"/>
              <a:t>dois</a:t>
            </a:r>
            <a:r>
              <a:rPr lang="en-US" dirty="0"/>
              <a:t> </a:t>
            </a:r>
            <a:r>
              <a:rPr lang="en-US" dirty="0" err="1"/>
              <a:t>problemas</a:t>
            </a:r>
            <a:r>
              <a:rPr lang="en-US" dirty="0"/>
              <a:t> do case (write-off 8,2%, $1.2M </a:t>
            </a:r>
            <a:r>
              <a:rPr lang="en-US" dirty="0" err="1"/>
              <a:t>perdidos</a:t>
            </a:r>
            <a:r>
              <a:rPr lang="en-US" dirty="0"/>
              <a:t>, stock-outs; </a:t>
            </a:r>
            <a:r>
              <a:rPr lang="en-US" dirty="0" err="1"/>
              <a:t>decomposição</a:t>
            </a:r>
            <a:r>
              <a:rPr lang="en-US" dirty="0"/>
              <a:t> com </a:t>
            </a:r>
            <a:r>
              <a:rPr lang="en-US" dirty="0" err="1"/>
              <a:t>sinais</a:t>
            </a:r>
            <a:r>
              <a:rPr lang="en-US" dirty="0"/>
              <a:t> </a:t>
            </a:r>
            <a:r>
              <a:rPr lang="en-US" dirty="0" err="1"/>
              <a:t>econômicos</a:t>
            </a:r>
            <a:r>
              <a:rPr lang="en-US" dirty="0"/>
              <a:t> </a:t>
            </a:r>
            <a:r>
              <a:rPr lang="en-US" dirty="0" err="1"/>
              <a:t>errados</a:t>
            </a:r>
            <a:r>
              <a:rPr lang="en-US" dirty="0"/>
              <a:t>) — </a:t>
            </a:r>
            <a:r>
              <a:rPr lang="en-US" dirty="0" err="1"/>
              <a:t>isso</a:t>
            </a:r>
            <a:r>
              <a:rPr lang="en-US" dirty="0"/>
              <a:t> </a:t>
            </a:r>
            <a:r>
              <a:rPr lang="en-US" dirty="0" err="1"/>
              <a:t>substitui</a:t>
            </a:r>
            <a:r>
              <a:rPr lang="en-US" dirty="0"/>
              <a:t> o "executive summary" </a:t>
            </a:r>
            <a:r>
              <a:rPr lang="en-US" dirty="0" err="1"/>
              <a:t>que</a:t>
            </a:r>
            <a:r>
              <a:rPr lang="en-US" dirty="0"/>
              <a:t> </a:t>
            </a:r>
            <a:r>
              <a:rPr lang="en-US" dirty="0" err="1"/>
              <a:t>estamos</a:t>
            </a:r>
            <a:r>
              <a:rPr lang="en-US" dirty="0"/>
              <a:t> </a:t>
            </a:r>
            <a:r>
              <a:rPr lang="en-US" dirty="0" err="1"/>
              <a:t>pulando</a:t>
            </a:r>
            <a:r>
              <a:rPr lang="en-US" dirty="0"/>
              <a:t>, </a:t>
            </a:r>
            <a:r>
              <a:rPr lang="en-US" dirty="0" err="1"/>
              <a:t>dando</a:t>
            </a:r>
            <a:r>
              <a:rPr lang="en-US" dirty="0"/>
              <a:t> o </a:t>
            </a:r>
            <a:r>
              <a:rPr lang="en-US" dirty="0" err="1"/>
              <a:t>pano</a:t>
            </a:r>
            <a:r>
              <a:rPr lang="en-US" dirty="0"/>
              <a:t> de </a:t>
            </a:r>
            <a:r>
              <a:rPr lang="en-US" dirty="0" err="1"/>
              <a:t>fundo</a:t>
            </a:r>
            <a:r>
              <a:rPr lang="en-US" dirty="0"/>
              <a:t> </a:t>
            </a:r>
            <a:r>
              <a:rPr lang="en-US" dirty="0" err="1"/>
              <a:t>sem</a:t>
            </a:r>
            <a:r>
              <a:rPr lang="en-US" dirty="0"/>
              <a:t> </a:t>
            </a:r>
            <a:r>
              <a:rPr lang="en-US" dirty="0" err="1"/>
              <a:t>virar</a:t>
            </a:r>
            <a:r>
              <a:rPr lang="en-US" dirty="0"/>
              <a:t> </a:t>
            </a:r>
            <a:r>
              <a:rPr lang="en-US" dirty="0" err="1"/>
              <a:t>uma</a:t>
            </a:r>
            <a:r>
              <a:rPr lang="en-US" dirty="0"/>
              <a:t> </a:t>
            </a:r>
            <a:r>
              <a:rPr lang="en-US" dirty="0" err="1"/>
              <a:t>seção</a:t>
            </a:r>
            <a:r>
              <a:rPr lang="en-US" dirty="0"/>
              <a:t> formal.</a:t>
            </a:r>
          </a:p>
        </p:txBody>
      </p:sp>
    </p:spTree>
    <p:extLst>
      <p:ext uri="{BB962C8B-B14F-4D97-AF65-F5344CB8AC3E}">
        <p14:creationId xmlns:p14="http://schemas.microsoft.com/office/powerpoint/2010/main" val="4310902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81C8D-550A-D874-4153-5E6CEE91267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53B81D6-D706-E4FE-8559-D61FA3BC343E}"/>
              </a:ext>
            </a:extLst>
          </p:cNvPr>
          <p:cNvSpPr>
            <a:spLocks noGrp="1"/>
          </p:cNvSpPr>
          <p:nvPr>
            <p:ph type="title"/>
          </p:nvPr>
        </p:nvSpPr>
        <p:spPr/>
        <p:txBody>
          <a:bodyPr/>
          <a:lstStyle/>
          <a:p>
            <a:r>
              <a:rPr lang="pt-BR" dirty="0" err="1"/>
              <a:t>Question</a:t>
            </a:r>
            <a:r>
              <a:rPr lang="pt-BR" dirty="0"/>
              <a:t> 1 - </a:t>
            </a:r>
            <a:r>
              <a:rPr lang="en-US" dirty="0"/>
              <a:t>What is the current status of the forecasting and decomposition system? </a:t>
            </a:r>
          </a:p>
        </p:txBody>
      </p:sp>
      <p:sp>
        <p:nvSpPr>
          <p:cNvPr id="3" name="Espaço Reservado para Conteúdo 2">
            <a:extLst>
              <a:ext uri="{FF2B5EF4-FFF2-40B4-BE49-F238E27FC236}">
                <a16:creationId xmlns:a16="http://schemas.microsoft.com/office/drawing/2014/main" id="{F4E510FB-56C9-F5CD-E0FE-43EC33AA0CAB}"/>
              </a:ext>
            </a:extLst>
          </p:cNvPr>
          <p:cNvSpPr>
            <a:spLocks noGrp="1"/>
          </p:cNvSpPr>
          <p:nvPr>
            <p:ph idx="1"/>
          </p:nvPr>
        </p:nvSpPr>
        <p:spPr/>
        <p:txBody>
          <a:bodyPr/>
          <a:lstStyle/>
          <a:p>
            <a:r>
              <a:rPr lang="en-US" b="1" dirty="0" err="1"/>
              <a:t>Diagnóstico</a:t>
            </a:r>
            <a:r>
              <a:rPr lang="en-US" b="1" dirty="0"/>
              <a:t> do </a:t>
            </a:r>
            <a:r>
              <a:rPr lang="en-US" b="1" dirty="0" err="1"/>
              <a:t>Problema</a:t>
            </a:r>
            <a:r>
              <a:rPr lang="en-US" b="1" dirty="0"/>
              <a:t> 1 (</a:t>
            </a:r>
            <a:r>
              <a:rPr lang="en-US" b="1" dirty="0" err="1"/>
              <a:t>acurácia</a:t>
            </a:r>
            <a:r>
              <a:rPr lang="en-US" b="1" dirty="0"/>
              <a:t>)</a:t>
            </a:r>
            <a:br>
              <a:rPr lang="en-US" dirty="0"/>
            </a:br>
            <a:r>
              <a:rPr lang="en-US" dirty="0"/>
              <a:t>Por </a:t>
            </a:r>
            <a:r>
              <a:rPr lang="en-US" dirty="0" err="1"/>
              <a:t>que</a:t>
            </a:r>
            <a:r>
              <a:rPr lang="en-US" dirty="0"/>
              <a:t> a </a:t>
            </a:r>
            <a:r>
              <a:rPr lang="en-US" dirty="0" err="1"/>
              <a:t>acurácia</a:t>
            </a:r>
            <a:r>
              <a:rPr lang="en-US" dirty="0"/>
              <a:t> é </a:t>
            </a:r>
            <a:r>
              <a:rPr lang="en-US" dirty="0" err="1"/>
              <a:t>baixa</a:t>
            </a:r>
            <a:r>
              <a:rPr lang="en-US" dirty="0"/>
              <a:t>: </a:t>
            </a:r>
            <a:r>
              <a:rPr lang="en-US" dirty="0" err="1"/>
              <a:t>modelo</a:t>
            </a:r>
            <a:r>
              <a:rPr lang="en-US" dirty="0"/>
              <a:t> </a:t>
            </a:r>
            <a:r>
              <a:rPr lang="en-US" dirty="0" err="1"/>
              <a:t>único</a:t>
            </a:r>
            <a:r>
              <a:rPr lang="en-US" dirty="0"/>
              <a:t> </a:t>
            </a:r>
            <a:r>
              <a:rPr lang="en-US" dirty="0" err="1"/>
              <a:t>por</a:t>
            </a:r>
            <a:r>
              <a:rPr lang="en-US" dirty="0"/>
              <a:t> canal "</a:t>
            </a:r>
            <a:r>
              <a:rPr lang="en-US" dirty="0" err="1"/>
              <a:t>misturando</a:t>
            </a:r>
            <a:r>
              <a:rPr lang="en-US" dirty="0"/>
              <a:t>" 5 </a:t>
            </a:r>
            <a:r>
              <a:rPr lang="en-US" dirty="0" err="1"/>
              <a:t>produtos</a:t>
            </a:r>
            <a:r>
              <a:rPr lang="en-US" dirty="0"/>
              <a:t> com </a:t>
            </a:r>
            <a:r>
              <a:rPr lang="en-US" dirty="0" err="1"/>
              <a:t>preços</a:t>
            </a:r>
            <a:r>
              <a:rPr lang="en-US" dirty="0"/>
              <a:t>/</a:t>
            </a:r>
            <a:r>
              <a:rPr lang="en-US" dirty="0" err="1"/>
              <a:t>comportamentos</a:t>
            </a:r>
            <a:r>
              <a:rPr lang="en-US" dirty="0"/>
              <a:t> </a:t>
            </a:r>
            <a:r>
              <a:rPr lang="en-US" dirty="0" err="1"/>
              <a:t>muito</a:t>
            </a:r>
            <a:r>
              <a:rPr lang="en-US" dirty="0"/>
              <a:t> </a:t>
            </a:r>
            <a:r>
              <a:rPr lang="en-US" dirty="0" err="1"/>
              <a:t>diferentes</a:t>
            </a:r>
            <a:r>
              <a:rPr lang="en-US" dirty="0"/>
              <a:t> (pooling). MAPE </a:t>
            </a:r>
            <a:r>
              <a:rPr lang="en-US" dirty="0" err="1"/>
              <a:t>penalizando</a:t>
            </a:r>
            <a:r>
              <a:rPr lang="en-US" dirty="0"/>
              <a:t> </a:t>
            </a:r>
            <a:r>
              <a:rPr lang="en-US" dirty="0" err="1"/>
              <a:t>desproporcionalmente</a:t>
            </a:r>
            <a:r>
              <a:rPr lang="en-US" dirty="0"/>
              <a:t> SKUs de </a:t>
            </a:r>
            <a:r>
              <a:rPr lang="en-US" dirty="0" err="1"/>
              <a:t>baixo</a:t>
            </a:r>
            <a:r>
              <a:rPr lang="en-US" dirty="0"/>
              <a:t> volume (</a:t>
            </a:r>
            <a:r>
              <a:rPr lang="en-US" dirty="0" err="1"/>
              <a:t>os</a:t>
            </a:r>
            <a:r>
              <a:rPr lang="en-US" dirty="0"/>
              <a:t> </a:t>
            </a:r>
            <a:r>
              <a:rPr lang="en-US" dirty="0" err="1"/>
              <a:t>dois</a:t>
            </a:r>
            <a:r>
              <a:rPr lang="en-US" dirty="0"/>
              <a:t> </a:t>
            </a:r>
            <a:r>
              <a:rPr lang="en-US" dirty="0" err="1"/>
              <a:t>casos</a:t>
            </a:r>
            <a:r>
              <a:rPr lang="en-US" dirty="0"/>
              <a:t> "</a:t>
            </a:r>
            <a:r>
              <a:rPr lang="en-US" dirty="0" err="1"/>
              <a:t>quebrados</a:t>
            </a:r>
            <a:r>
              <a:rPr lang="en-US" dirty="0"/>
              <a:t>" de E-commerce).</a:t>
            </a:r>
          </a:p>
        </p:txBody>
      </p:sp>
    </p:spTree>
    <p:extLst>
      <p:ext uri="{BB962C8B-B14F-4D97-AF65-F5344CB8AC3E}">
        <p14:creationId xmlns:p14="http://schemas.microsoft.com/office/powerpoint/2010/main" val="18595818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21969C-C715-BBC9-D3A4-AB7A1797E04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D799EF6-D79B-D819-6146-EE9E447B2216}"/>
              </a:ext>
            </a:extLst>
          </p:cNvPr>
          <p:cNvSpPr>
            <a:spLocks noGrp="1"/>
          </p:cNvSpPr>
          <p:nvPr>
            <p:ph type="title"/>
          </p:nvPr>
        </p:nvSpPr>
        <p:spPr/>
        <p:txBody>
          <a:bodyPr/>
          <a:lstStyle/>
          <a:p>
            <a:r>
              <a:rPr lang="pt-BR" dirty="0" err="1"/>
              <a:t>Question</a:t>
            </a:r>
            <a:r>
              <a:rPr lang="pt-BR" dirty="0"/>
              <a:t> 1 - </a:t>
            </a:r>
            <a:r>
              <a:rPr lang="en-US" dirty="0"/>
              <a:t>What is the current status of the forecasting and decomposition system? </a:t>
            </a:r>
          </a:p>
        </p:txBody>
      </p:sp>
      <p:sp>
        <p:nvSpPr>
          <p:cNvPr id="3" name="Espaço Reservado para Conteúdo 2">
            <a:extLst>
              <a:ext uri="{FF2B5EF4-FFF2-40B4-BE49-F238E27FC236}">
                <a16:creationId xmlns:a16="http://schemas.microsoft.com/office/drawing/2014/main" id="{9DC0308E-9DDD-35B8-0A48-1F0C812A5C53}"/>
              </a:ext>
            </a:extLst>
          </p:cNvPr>
          <p:cNvSpPr>
            <a:spLocks noGrp="1"/>
          </p:cNvSpPr>
          <p:nvPr>
            <p:ph idx="1"/>
          </p:nvPr>
        </p:nvSpPr>
        <p:spPr/>
        <p:txBody>
          <a:bodyPr/>
          <a:lstStyle/>
          <a:p>
            <a:r>
              <a:rPr lang="en-US" b="1" dirty="0" err="1"/>
              <a:t>Diagnóstico</a:t>
            </a:r>
            <a:r>
              <a:rPr lang="en-US" b="1" dirty="0"/>
              <a:t> do </a:t>
            </a:r>
            <a:r>
              <a:rPr lang="en-US" b="1" dirty="0" err="1"/>
              <a:t>Problema</a:t>
            </a:r>
            <a:r>
              <a:rPr lang="en-US" b="1" dirty="0"/>
              <a:t> 2 (</a:t>
            </a:r>
            <a:r>
              <a:rPr lang="en-US" b="1" dirty="0" err="1"/>
              <a:t>decomposição</a:t>
            </a:r>
            <a:r>
              <a:rPr lang="en-US" b="1" dirty="0"/>
              <a:t>)</a:t>
            </a:r>
            <a:br>
              <a:rPr lang="en-US" dirty="0"/>
            </a:br>
            <a:r>
              <a:rPr lang="en-US" dirty="0"/>
              <a:t>Por </a:t>
            </a:r>
            <a:r>
              <a:rPr lang="en-US" dirty="0" err="1"/>
              <a:t>que</a:t>
            </a:r>
            <a:r>
              <a:rPr lang="en-US" dirty="0"/>
              <a:t> o SHAP </a:t>
            </a:r>
            <a:r>
              <a:rPr lang="en-US" dirty="0" err="1"/>
              <a:t>não</a:t>
            </a:r>
            <a:r>
              <a:rPr lang="en-US" dirty="0"/>
              <a:t> </a:t>
            </a:r>
            <a:r>
              <a:rPr lang="en-US" dirty="0" err="1"/>
              <a:t>faz</a:t>
            </a:r>
            <a:r>
              <a:rPr lang="en-US" dirty="0"/>
              <a:t> </a:t>
            </a:r>
            <a:r>
              <a:rPr lang="en-US" dirty="0" err="1"/>
              <a:t>sentido</a:t>
            </a:r>
            <a:r>
              <a:rPr lang="en-US" dirty="0"/>
              <a:t>: causa </a:t>
            </a:r>
            <a:r>
              <a:rPr lang="en-US" dirty="0" err="1"/>
              <a:t>raiz</a:t>
            </a:r>
            <a:r>
              <a:rPr lang="en-US" dirty="0"/>
              <a:t> é a </a:t>
            </a:r>
            <a:r>
              <a:rPr lang="en-US" dirty="0" err="1"/>
              <a:t>mesma</a:t>
            </a:r>
            <a:r>
              <a:rPr lang="en-US" dirty="0"/>
              <a:t> do pooling — </a:t>
            </a:r>
            <a:r>
              <a:rPr lang="en-US" dirty="0" err="1"/>
              <a:t>misturar</a:t>
            </a:r>
            <a:r>
              <a:rPr lang="en-US" dirty="0"/>
              <a:t> </a:t>
            </a:r>
            <a:r>
              <a:rPr lang="en-US" dirty="0" err="1"/>
              <a:t>produtos</a:t>
            </a:r>
            <a:r>
              <a:rPr lang="en-US" dirty="0"/>
              <a:t> de </a:t>
            </a:r>
            <a:r>
              <a:rPr lang="en-US" dirty="0" err="1"/>
              <a:t>preços</a:t>
            </a:r>
            <a:r>
              <a:rPr lang="en-US" dirty="0"/>
              <a:t> </a:t>
            </a:r>
            <a:r>
              <a:rPr lang="en-US" dirty="0" err="1"/>
              <a:t>muito</a:t>
            </a:r>
            <a:r>
              <a:rPr lang="en-US" dirty="0"/>
              <a:t> </a:t>
            </a:r>
            <a:r>
              <a:rPr lang="en-US" dirty="0" err="1"/>
              <a:t>diferentes</a:t>
            </a:r>
            <a:r>
              <a:rPr lang="en-US" dirty="0"/>
              <a:t> </a:t>
            </a:r>
            <a:r>
              <a:rPr lang="en-US" dirty="0" err="1"/>
              <a:t>confunde</a:t>
            </a:r>
            <a:r>
              <a:rPr lang="en-US" dirty="0"/>
              <a:t> a </a:t>
            </a:r>
            <a:r>
              <a:rPr lang="en-US" dirty="0" err="1"/>
              <a:t>leitura</a:t>
            </a:r>
            <a:r>
              <a:rPr lang="en-US" dirty="0"/>
              <a:t> de </a:t>
            </a:r>
            <a:r>
              <a:rPr lang="en-US" dirty="0" err="1"/>
              <a:t>elasticidade</a:t>
            </a:r>
            <a:r>
              <a:rPr lang="en-US" dirty="0"/>
              <a:t>. </a:t>
            </a:r>
            <a:r>
              <a:rPr lang="en-US" dirty="0" err="1"/>
              <a:t>Promoção</a:t>
            </a:r>
            <a:r>
              <a:rPr lang="en-US" dirty="0"/>
              <a:t> "</a:t>
            </a:r>
            <a:r>
              <a:rPr lang="en-US" dirty="0" err="1"/>
              <a:t>rouba</a:t>
            </a:r>
            <a:r>
              <a:rPr lang="en-US" dirty="0"/>
              <a:t>" </a:t>
            </a:r>
            <a:r>
              <a:rPr lang="en-US" dirty="0" err="1"/>
              <a:t>crédito</a:t>
            </a:r>
            <a:r>
              <a:rPr lang="en-US" dirty="0"/>
              <a:t> de </a:t>
            </a:r>
            <a:r>
              <a:rPr lang="en-US" dirty="0" err="1"/>
              <a:t>Publicidade</a:t>
            </a:r>
            <a:r>
              <a:rPr lang="en-US" dirty="0"/>
              <a:t> </a:t>
            </a:r>
            <a:r>
              <a:rPr lang="en-US" dirty="0" err="1"/>
              <a:t>por</a:t>
            </a:r>
            <a:r>
              <a:rPr lang="en-US" dirty="0"/>
              <a:t> </a:t>
            </a:r>
            <a:r>
              <a:rPr lang="en-US" dirty="0" err="1"/>
              <a:t>colinearidade</a:t>
            </a:r>
            <a:r>
              <a:rPr lang="en-US" dirty="0"/>
              <a:t>/</a:t>
            </a:r>
            <a:r>
              <a:rPr lang="en-US" dirty="0" err="1"/>
              <a:t>falta</a:t>
            </a:r>
            <a:r>
              <a:rPr lang="en-US" dirty="0"/>
              <a:t> de </a:t>
            </a:r>
            <a:r>
              <a:rPr lang="en-US" dirty="0" err="1"/>
              <a:t>restrição</a:t>
            </a:r>
            <a:r>
              <a:rPr lang="en-US" dirty="0"/>
              <a:t>.</a:t>
            </a:r>
          </a:p>
        </p:txBody>
      </p:sp>
    </p:spTree>
    <p:extLst>
      <p:ext uri="{BB962C8B-B14F-4D97-AF65-F5344CB8AC3E}">
        <p14:creationId xmlns:p14="http://schemas.microsoft.com/office/powerpoint/2010/main" val="22841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328084-AADF-67B6-C6EF-700C5895611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CB75230-3F07-A3A9-24C1-56531172B1A3}"/>
              </a:ext>
            </a:extLst>
          </p:cNvPr>
          <p:cNvSpPr>
            <a:spLocks noGrp="1"/>
          </p:cNvSpPr>
          <p:nvPr>
            <p:ph type="title"/>
          </p:nvPr>
        </p:nvSpPr>
        <p:spPr/>
        <p:txBody>
          <a:bodyPr/>
          <a:lstStyle/>
          <a:p>
            <a:r>
              <a:rPr lang="pt-BR" dirty="0" err="1"/>
              <a:t>Question</a:t>
            </a:r>
            <a:r>
              <a:rPr lang="pt-BR" dirty="0"/>
              <a:t> 2 - </a:t>
            </a:r>
            <a:r>
              <a:rPr lang="en-US" dirty="0"/>
              <a:t>What can be done to improve the accuracy of the systems? </a:t>
            </a:r>
          </a:p>
        </p:txBody>
      </p:sp>
      <p:sp>
        <p:nvSpPr>
          <p:cNvPr id="3" name="Espaço Reservado para Conteúdo 2">
            <a:extLst>
              <a:ext uri="{FF2B5EF4-FFF2-40B4-BE49-F238E27FC236}">
                <a16:creationId xmlns:a16="http://schemas.microsoft.com/office/drawing/2014/main" id="{193216AA-9991-E2F8-5212-E93B13897B8B}"/>
              </a:ext>
            </a:extLst>
          </p:cNvPr>
          <p:cNvSpPr>
            <a:spLocks noGrp="1"/>
          </p:cNvSpPr>
          <p:nvPr>
            <p:ph idx="1"/>
          </p:nvPr>
        </p:nvSpPr>
        <p:spPr/>
        <p:txBody>
          <a:bodyPr/>
          <a:lstStyle/>
          <a:p>
            <a:r>
              <a:rPr lang="en-US" b="1" dirty="0" err="1"/>
              <a:t>Visão</a:t>
            </a:r>
            <a:r>
              <a:rPr lang="en-US" b="1" dirty="0"/>
              <a:t> </a:t>
            </a:r>
            <a:r>
              <a:rPr lang="en-US" b="1" dirty="0" err="1"/>
              <a:t>geral</a:t>
            </a:r>
            <a:r>
              <a:rPr lang="en-US" b="1" dirty="0"/>
              <a:t> da </a:t>
            </a:r>
            <a:r>
              <a:rPr lang="en-US" b="1" dirty="0" err="1"/>
              <a:t>solução</a:t>
            </a:r>
            <a:br>
              <a:rPr lang="en-US" dirty="0"/>
            </a:br>
            <a:r>
              <a:rPr lang="en-US" dirty="0"/>
              <a:t>As 3 </a:t>
            </a:r>
            <a:r>
              <a:rPr lang="en-US" dirty="0" err="1"/>
              <a:t>mudanças</a:t>
            </a:r>
            <a:r>
              <a:rPr lang="en-US" dirty="0"/>
              <a:t> </a:t>
            </a:r>
            <a:r>
              <a:rPr lang="en-US" dirty="0" err="1"/>
              <a:t>estruturais</a:t>
            </a:r>
            <a:r>
              <a:rPr lang="en-US" dirty="0"/>
              <a:t>: (1) </a:t>
            </a:r>
            <a:r>
              <a:rPr lang="en-US" dirty="0" err="1"/>
              <a:t>modelo</a:t>
            </a:r>
            <a:r>
              <a:rPr lang="en-US" dirty="0"/>
              <a:t> </a:t>
            </a:r>
            <a:r>
              <a:rPr lang="en-US" dirty="0" err="1"/>
              <a:t>por</a:t>
            </a:r>
            <a:r>
              <a:rPr lang="en-US" dirty="0"/>
              <a:t> SKU-canal </a:t>
            </a:r>
            <a:r>
              <a:rPr lang="en-US" dirty="0" err="1"/>
              <a:t>em</a:t>
            </a:r>
            <a:r>
              <a:rPr lang="en-US" dirty="0"/>
              <a:t> </a:t>
            </a:r>
            <a:r>
              <a:rPr lang="en-US" dirty="0" err="1"/>
              <a:t>vez</a:t>
            </a:r>
            <a:r>
              <a:rPr lang="en-US" dirty="0"/>
              <a:t> de canal </a:t>
            </a:r>
            <a:r>
              <a:rPr lang="en-US" dirty="0" err="1"/>
              <a:t>agregado</a:t>
            </a:r>
            <a:r>
              <a:rPr lang="en-US" dirty="0"/>
              <a:t>, (2) </a:t>
            </a:r>
            <a:r>
              <a:rPr lang="en-US" dirty="0" err="1"/>
              <a:t>restrição</a:t>
            </a:r>
            <a:r>
              <a:rPr lang="en-US" dirty="0"/>
              <a:t> </a:t>
            </a:r>
            <a:r>
              <a:rPr lang="en-US" dirty="0" err="1"/>
              <a:t>monotônica</a:t>
            </a:r>
            <a:r>
              <a:rPr lang="en-US" dirty="0"/>
              <a:t> de </a:t>
            </a:r>
            <a:r>
              <a:rPr lang="en-US" dirty="0" err="1"/>
              <a:t>preço</a:t>
            </a:r>
            <a:r>
              <a:rPr lang="en-US" dirty="0"/>
              <a:t>, (3) </a:t>
            </a:r>
            <a:r>
              <a:rPr lang="en-US" dirty="0" err="1"/>
              <a:t>sistema</a:t>
            </a:r>
            <a:r>
              <a:rPr lang="en-US" dirty="0"/>
              <a:t> de bake-off (</a:t>
            </a:r>
            <a:r>
              <a:rPr lang="en-US" dirty="0" err="1"/>
              <a:t>LightGBM</a:t>
            </a:r>
            <a:r>
              <a:rPr lang="en-US" dirty="0"/>
              <a:t> / GAM / </a:t>
            </a:r>
            <a:r>
              <a:rPr lang="en-US" dirty="0" err="1"/>
              <a:t>LightGBM</a:t>
            </a:r>
            <a:r>
              <a:rPr lang="en-US" dirty="0"/>
              <a:t> Pooled) </a:t>
            </a:r>
            <a:r>
              <a:rPr lang="en-US" dirty="0" err="1"/>
              <a:t>escolhendo</a:t>
            </a:r>
            <a:r>
              <a:rPr lang="en-US" dirty="0"/>
              <a:t> o </a:t>
            </a:r>
            <a:r>
              <a:rPr lang="en-US" dirty="0" err="1"/>
              <a:t>melhor</a:t>
            </a:r>
            <a:r>
              <a:rPr lang="en-US" dirty="0"/>
              <a:t> </a:t>
            </a:r>
            <a:r>
              <a:rPr lang="en-US" dirty="0" err="1"/>
              <a:t>modelo</a:t>
            </a:r>
            <a:r>
              <a:rPr lang="en-US" dirty="0"/>
              <a:t> </a:t>
            </a:r>
            <a:r>
              <a:rPr lang="en-US" dirty="0" err="1"/>
              <a:t>por</a:t>
            </a:r>
            <a:r>
              <a:rPr lang="en-US" dirty="0"/>
              <a:t> SKU-canal, </a:t>
            </a:r>
            <a:r>
              <a:rPr lang="en-US" dirty="0" err="1"/>
              <a:t>validado</a:t>
            </a:r>
            <a:r>
              <a:rPr lang="en-US" dirty="0"/>
              <a:t> com </a:t>
            </a:r>
            <a:r>
              <a:rPr lang="en-US" dirty="0" err="1"/>
              <a:t>backtest</a:t>
            </a:r>
            <a:r>
              <a:rPr lang="en-US" dirty="0"/>
              <a:t> </a:t>
            </a:r>
            <a:r>
              <a:rPr lang="en-US" dirty="0" err="1"/>
              <a:t>recursivo</a:t>
            </a:r>
            <a:r>
              <a:rPr lang="en-US" dirty="0"/>
              <a:t>.</a:t>
            </a:r>
          </a:p>
        </p:txBody>
      </p:sp>
    </p:spTree>
    <p:extLst>
      <p:ext uri="{BB962C8B-B14F-4D97-AF65-F5344CB8AC3E}">
        <p14:creationId xmlns:p14="http://schemas.microsoft.com/office/powerpoint/2010/main" val="14256929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15608-6449-BE5E-F451-C8CE61B65ED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657D73D-41A9-C5E6-757F-445770862A6F}"/>
              </a:ext>
            </a:extLst>
          </p:cNvPr>
          <p:cNvSpPr>
            <a:spLocks noGrp="1"/>
          </p:cNvSpPr>
          <p:nvPr>
            <p:ph type="title"/>
          </p:nvPr>
        </p:nvSpPr>
        <p:spPr/>
        <p:txBody>
          <a:bodyPr/>
          <a:lstStyle/>
          <a:p>
            <a:r>
              <a:rPr lang="pt-BR" dirty="0" err="1"/>
              <a:t>Question</a:t>
            </a:r>
            <a:r>
              <a:rPr lang="pt-BR" dirty="0"/>
              <a:t> 2 - </a:t>
            </a:r>
            <a:r>
              <a:rPr lang="en-US" dirty="0"/>
              <a:t>What can be done to improve the accuracy of the systems? </a:t>
            </a:r>
          </a:p>
        </p:txBody>
      </p:sp>
      <p:sp>
        <p:nvSpPr>
          <p:cNvPr id="3" name="Espaço Reservado para Conteúdo 2">
            <a:extLst>
              <a:ext uri="{FF2B5EF4-FFF2-40B4-BE49-F238E27FC236}">
                <a16:creationId xmlns:a16="http://schemas.microsoft.com/office/drawing/2014/main" id="{02018F6B-4B58-00D9-E2F5-C326945C2C0C}"/>
              </a:ext>
            </a:extLst>
          </p:cNvPr>
          <p:cNvSpPr>
            <a:spLocks noGrp="1"/>
          </p:cNvSpPr>
          <p:nvPr>
            <p:ph idx="1"/>
          </p:nvPr>
        </p:nvSpPr>
        <p:spPr/>
        <p:txBody>
          <a:bodyPr/>
          <a:lstStyle/>
          <a:p>
            <a:r>
              <a:rPr lang="en-US" b="1" dirty="0" err="1"/>
              <a:t>Resultado</a:t>
            </a:r>
            <a:r>
              <a:rPr lang="en-US" b="1" dirty="0"/>
              <a:t>: </a:t>
            </a:r>
            <a:r>
              <a:rPr lang="en-US" b="1" dirty="0" err="1"/>
              <a:t>acurácia</a:t>
            </a:r>
            <a:br>
              <a:rPr lang="en-US" dirty="0"/>
            </a:br>
            <a:r>
              <a:rPr lang="en-US" dirty="0"/>
              <a:t>Antes/</a:t>
            </a:r>
            <a:r>
              <a:rPr lang="en-US" dirty="0" err="1"/>
              <a:t>depois</a:t>
            </a:r>
            <a:r>
              <a:rPr lang="en-US" dirty="0"/>
              <a:t> de </a:t>
            </a:r>
            <a:r>
              <a:rPr lang="en-US" dirty="0" err="1"/>
              <a:t>acurácia</a:t>
            </a:r>
            <a:r>
              <a:rPr lang="en-US" dirty="0"/>
              <a:t> (</a:t>
            </a:r>
            <a:r>
              <a:rPr lang="en-US" dirty="0" err="1"/>
              <a:t>aqui</a:t>
            </a:r>
            <a:r>
              <a:rPr lang="en-US" dirty="0"/>
              <a:t> é </a:t>
            </a:r>
            <a:r>
              <a:rPr lang="en-US" dirty="0" err="1"/>
              <a:t>onde</a:t>
            </a:r>
            <a:r>
              <a:rPr lang="en-US" dirty="0"/>
              <a:t> </a:t>
            </a:r>
            <a:r>
              <a:rPr lang="en-US" dirty="0" err="1"/>
              <a:t>entram</a:t>
            </a:r>
            <a:r>
              <a:rPr lang="en-US" dirty="0"/>
              <a:t> </a:t>
            </a:r>
            <a:r>
              <a:rPr lang="en-US" dirty="0" err="1"/>
              <a:t>os</a:t>
            </a:r>
            <a:r>
              <a:rPr lang="en-US" dirty="0"/>
              <a:t> </a:t>
            </a:r>
            <a:r>
              <a:rPr lang="en-US" dirty="0" err="1"/>
              <a:t>números</a:t>
            </a:r>
            <a:r>
              <a:rPr lang="en-US" dirty="0"/>
              <a:t> </a:t>
            </a:r>
            <a:r>
              <a:rPr lang="en-US" dirty="0" err="1"/>
              <a:t>que</a:t>
            </a:r>
            <a:r>
              <a:rPr lang="en-US" dirty="0"/>
              <a:t> </a:t>
            </a:r>
            <a:r>
              <a:rPr lang="en-US" dirty="0" err="1"/>
              <a:t>você</a:t>
            </a:r>
            <a:r>
              <a:rPr lang="en-US" dirty="0"/>
              <a:t> </a:t>
            </a:r>
            <a:r>
              <a:rPr lang="en-US" dirty="0" err="1"/>
              <a:t>vai</a:t>
            </a:r>
            <a:r>
              <a:rPr lang="en-US" dirty="0"/>
              <a:t> </a:t>
            </a:r>
            <a:r>
              <a:rPr lang="en-US" dirty="0" err="1"/>
              <a:t>confirmar</a:t>
            </a:r>
            <a:r>
              <a:rPr lang="en-US" dirty="0"/>
              <a:t>). </a:t>
            </a:r>
            <a:r>
              <a:rPr lang="en-US" dirty="0" err="1"/>
              <a:t>Explicar</a:t>
            </a:r>
            <a:r>
              <a:rPr lang="en-US" dirty="0"/>
              <a:t> </a:t>
            </a:r>
            <a:r>
              <a:rPr lang="en-US" dirty="0" err="1"/>
              <a:t>por</a:t>
            </a:r>
            <a:r>
              <a:rPr lang="en-US" dirty="0"/>
              <a:t> </a:t>
            </a:r>
            <a:r>
              <a:rPr lang="en-US" dirty="0" err="1"/>
              <a:t>que</a:t>
            </a:r>
            <a:r>
              <a:rPr lang="en-US" dirty="0"/>
              <a:t> </a:t>
            </a:r>
            <a:r>
              <a:rPr lang="en-US" dirty="0" err="1"/>
              <a:t>trocamos</a:t>
            </a:r>
            <a:r>
              <a:rPr lang="en-US" dirty="0"/>
              <a:t> MAPE </a:t>
            </a:r>
            <a:r>
              <a:rPr lang="en-US" dirty="0" err="1"/>
              <a:t>por</a:t>
            </a:r>
            <a:r>
              <a:rPr lang="en-US" dirty="0"/>
              <a:t> WAPE </a:t>
            </a:r>
            <a:r>
              <a:rPr lang="en-US" dirty="0" err="1"/>
              <a:t>como</a:t>
            </a:r>
            <a:r>
              <a:rPr lang="en-US" dirty="0"/>
              <a:t> </a:t>
            </a:r>
            <a:r>
              <a:rPr lang="en-US" dirty="0" err="1"/>
              <a:t>métrica</a:t>
            </a:r>
            <a:r>
              <a:rPr lang="en-US" dirty="0"/>
              <a:t> de </a:t>
            </a:r>
            <a:r>
              <a:rPr lang="en-US" dirty="0" err="1"/>
              <a:t>decisão</a:t>
            </a:r>
            <a:r>
              <a:rPr lang="en-US" dirty="0"/>
              <a:t>.</a:t>
            </a:r>
          </a:p>
        </p:txBody>
      </p:sp>
    </p:spTree>
    <p:extLst>
      <p:ext uri="{BB962C8B-B14F-4D97-AF65-F5344CB8AC3E}">
        <p14:creationId xmlns:p14="http://schemas.microsoft.com/office/powerpoint/2010/main" val="16820141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B9CCC-429E-5193-A7FB-FFDFB586A05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04047D0-DE45-67AD-2897-9657EAF06E7A}"/>
              </a:ext>
            </a:extLst>
          </p:cNvPr>
          <p:cNvSpPr>
            <a:spLocks noGrp="1"/>
          </p:cNvSpPr>
          <p:nvPr>
            <p:ph type="title"/>
          </p:nvPr>
        </p:nvSpPr>
        <p:spPr/>
        <p:txBody>
          <a:bodyPr/>
          <a:lstStyle/>
          <a:p>
            <a:r>
              <a:rPr lang="pt-BR" dirty="0" err="1"/>
              <a:t>Question</a:t>
            </a:r>
            <a:r>
              <a:rPr lang="pt-BR" dirty="0"/>
              <a:t> 2 - </a:t>
            </a:r>
            <a:r>
              <a:rPr lang="en-US" dirty="0"/>
              <a:t>What can be done to improve the accuracy of the systems? </a:t>
            </a:r>
          </a:p>
        </p:txBody>
      </p:sp>
      <p:sp>
        <p:nvSpPr>
          <p:cNvPr id="3" name="Espaço Reservado para Conteúdo 2">
            <a:extLst>
              <a:ext uri="{FF2B5EF4-FFF2-40B4-BE49-F238E27FC236}">
                <a16:creationId xmlns:a16="http://schemas.microsoft.com/office/drawing/2014/main" id="{A9D0E735-E5D1-8AE1-3591-D23617BA8FCC}"/>
              </a:ext>
            </a:extLst>
          </p:cNvPr>
          <p:cNvSpPr>
            <a:spLocks noGrp="1"/>
          </p:cNvSpPr>
          <p:nvPr>
            <p:ph idx="1"/>
          </p:nvPr>
        </p:nvSpPr>
        <p:spPr/>
        <p:txBody>
          <a:bodyPr/>
          <a:lstStyle/>
          <a:p>
            <a:r>
              <a:rPr lang="en-US" b="1" dirty="0" err="1"/>
              <a:t>Resultado</a:t>
            </a:r>
            <a:r>
              <a:rPr lang="en-US" b="1" dirty="0"/>
              <a:t>: </a:t>
            </a:r>
            <a:r>
              <a:rPr lang="en-US" b="1" dirty="0" err="1"/>
              <a:t>decomposição</a:t>
            </a:r>
            <a:r>
              <a:rPr lang="en-US" b="1" dirty="0"/>
              <a:t> </a:t>
            </a:r>
            <a:r>
              <a:rPr lang="en-US" b="1" dirty="0" err="1"/>
              <a:t>corrigida</a:t>
            </a:r>
            <a:br>
              <a:rPr lang="en-US" dirty="0"/>
            </a:br>
            <a:r>
              <a:rPr lang="en-US" dirty="0" err="1"/>
              <a:t>Preço</a:t>
            </a:r>
            <a:r>
              <a:rPr lang="en-US" dirty="0"/>
              <a:t> agora com </a:t>
            </a:r>
            <a:r>
              <a:rPr lang="en-US" dirty="0" err="1"/>
              <a:t>sinal</a:t>
            </a:r>
            <a:r>
              <a:rPr lang="en-US" dirty="0"/>
              <a:t> </a:t>
            </a:r>
            <a:r>
              <a:rPr lang="en-US" dirty="0" err="1"/>
              <a:t>correto</a:t>
            </a:r>
            <a:r>
              <a:rPr lang="en-US" dirty="0"/>
              <a:t> (</a:t>
            </a:r>
            <a:r>
              <a:rPr lang="en-US" dirty="0" err="1"/>
              <a:t>negativo</a:t>
            </a:r>
            <a:r>
              <a:rPr lang="en-US" dirty="0"/>
              <a:t>); </a:t>
            </a:r>
            <a:r>
              <a:rPr lang="en-US" dirty="0" err="1"/>
              <a:t>validação</a:t>
            </a:r>
            <a:r>
              <a:rPr lang="en-US" dirty="0"/>
              <a:t> </a:t>
            </a:r>
            <a:r>
              <a:rPr lang="en-US" dirty="0" err="1"/>
              <a:t>estatística</a:t>
            </a:r>
            <a:r>
              <a:rPr lang="en-US" dirty="0"/>
              <a:t> </a:t>
            </a:r>
            <a:r>
              <a:rPr lang="en-US" dirty="0" err="1"/>
              <a:t>mostrando</a:t>
            </a:r>
            <a:r>
              <a:rPr lang="en-US" dirty="0"/>
              <a:t> </a:t>
            </a:r>
            <a:r>
              <a:rPr lang="en-US" dirty="0" err="1"/>
              <a:t>que</a:t>
            </a:r>
            <a:r>
              <a:rPr lang="en-US" dirty="0"/>
              <a:t> </a:t>
            </a:r>
            <a:r>
              <a:rPr lang="en-US" dirty="0" err="1"/>
              <a:t>só</a:t>
            </a:r>
            <a:r>
              <a:rPr lang="en-US" dirty="0"/>
              <a:t> 2 de 15 </a:t>
            </a:r>
            <a:r>
              <a:rPr lang="en-US" dirty="0" err="1"/>
              <a:t>combinações</a:t>
            </a:r>
            <a:r>
              <a:rPr lang="en-US" dirty="0"/>
              <a:t> SKU-canal </a:t>
            </a:r>
            <a:r>
              <a:rPr lang="en-US" dirty="0" err="1"/>
              <a:t>têm</a:t>
            </a:r>
            <a:r>
              <a:rPr lang="en-US" dirty="0"/>
              <a:t> </a:t>
            </a:r>
            <a:r>
              <a:rPr lang="en-US" dirty="0" err="1"/>
              <a:t>elasticidade</a:t>
            </a:r>
            <a:r>
              <a:rPr lang="en-US" dirty="0"/>
              <a:t> </a:t>
            </a:r>
            <a:r>
              <a:rPr lang="en-US" dirty="0" err="1"/>
              <a:t>significativa</a:t>
            </a:r>
            <a:r>
              <a:rPr lang="en-US" dirty="0"/>
              <a:t> — </a:t>
            </a:r>
            <a:r>
              <a:rPr lang="en-US" dirty="0" err="1"/>
              <a:t>ou</a:t>
            </a:r>
            <a:r>
              <a:rPr lang="en-US" dirty="0"/>
              <a:t> </a:t>
            </a:r>
            <a:r>
              <a:rPr lang="en-US" dirty="0" err="1"/>
              <a:t>seja</a:t>
            </a:r>
            <a:r>
              <a:rPr lang="en-US" dirty="0"/>
              <a:t>, o </a:t>
            </a:r>
            <a:r>
              <a:rPr lang="en-US" dirty="0" err="1"/>
              <a:t>efeito</a:t>
            </a:r>
            <a:r>
              <a:rPr lang="en-US" dirty="0"/>
              <a:t> </a:t>
            </a:r>
            <a:r>
              <a:rPr lang="en-US" dirty="0" err="1"/>
              <a:t>nulo</a:t>
            </a:r>
            <a:r>
              <a:rPr lang="en-US" dirty="0"/>
              <a:t> do case é real, </a:t>
            </a:r>
            <a:r>
              <a:rPr lang="en-US" dirty="0" err="1"/>
              <a:t>não</a:t>
            </a:r>
            <a:r>
              <a:rPr lang="en-US" dirty="0"/>
              <a:t> </a:t>
            </a:r>
            <a:r>
              <a:rPr lang="en-US" dirty="0" err="1"/>
              <a:t>falha</a:t>
            </a:r>
            <a:r>
              <a:rPr lang="en-US" dirty="0"/>
              <a:t> de </a:t>
            </a:r>
            <a:r>
              <a:rPr lang="en-US" dirty="0" err="1"/>
              <a:t>execução</a:t>
            </a:r>
            <a:r>
              <a:rPr lang="en-US" dirty="0"/>
              <a:t>. </a:t>
            </a:r>
            <a:r>
              <a:rPr lang="en-US" dirty="0" err="1"/>
              <a:t>Promoção</a:t>
            </a:r>
            <a:r>
              <a:rPr lang="en-US" dirty="0"/>
              <a:t> vs </a:t>
            </a:r>
            <a:r>
              <a:rPr lang="en-US" dirty="0" err="1"/>
              <a:t>Publicidade</a:t>
            </a:r>
            <a:r>
              <a:rPr lang="en-US" dirty="0"/>
              <a:t> </a:t>
            </a:r>
            <a:r>
              <a:rPr lang="en-US" dirty="0" err="1"/>
              <a:t>rebalanceados</a:t>
            </a:r>
            <a:r>
              <a:rPr lang="en-US" dirty="0"/>
              <a:t>.</a:t>
            </a:r>
          </a:p>
        </p:txBody>
      </p:sp>
    </p:spTree>
    <p:extLst>
      <p:ext uri="{BB962C8B-B14F-4D97-AF65-F5344CB8AC3E}">
        <p14:creationId xmlns:p14="http://schemas.microsoft.com/office/powerpoint/2010/main" val="9788022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E9556-B3D4-ABCE-D035-27F401BC700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EA531E0-D702-C4B4-B957-F05366B804C9}"/>
              </a:ext>
            </a:extLst>
          </p:cNvPr>
          <p:cNvSpPr>
            <a:spLocks noGrp="1"/>
          </p:cNvSpPr>
          <p:nvPr>
            <p:ph type="title"/>
          </p:nvPr>
        </p:nvSpPr>
        <p:spPr/>
        <p:txBody>
          <a:bodyPr/>
          <a:lstStyle/>
          <a:p>
            <a:r>
              <a:rPr lang="pt-BR" dirty="0" err="1"/>
              <a:t>Question</a:t>
            </a:r>
            <a:r>
              <a:rPr lang="pt-BR" dirty="0"/>
              <a:t> 2 - </a:t>
            </a:r>
            <a:r>
              <a:rPr lang="en-US" dirty="0"/>
              <a:t>What can be done to improve the accuracy of the systems? </a:t>
            </a:r>
          </a:p>
        </p:txBody>
      </p:sp>
      <p:sp>
        <p:nvSpPr>
          <p:cNvPr id="3" name="Espaço Reservado para Conteúdo 2">
            <a:extLst>
              <a:ext uri="{FF2B5EF4-FFF2-40B4-BE49-F238E27FC236}">
                <a16:creationId xmlns:a16="http://schemas.microsoft.com/office/drawing/2014/main" id="{A79CE71B-8E9C-95B4-9CE5-4C035024F393}"/>
              </a:ext>
            </a:extLst>
          </p:cNvPr>
          <p:cNvSpPr>
            <a:spLocks noGrp="1"/>
          </p:cNvSpPr>
          <p:nvPr>
            <p:ph idx="1"/>
          </p:nvPr>
        </p:nvSpPr>
        <p:spPr/>
        <p:txBody>
          <a:bodyPr/>
          <a:lstStyle/>
          <a:p>
            <a:r>
              <a:rPr lang="en-US" b="1" dirty="0" err="1"/>
              <a:t>Ganho</a:t>
            </a:r>
            <a:r>
              <a:rPr lang="en-US" b="1" dirty="0"/>
              <a:t> de </a:t>
            </a:r>
            <a:r>
              <a:rPr lang="en-US" b="1" dirty="0" err="1"/>
              <a:t>negócio</a:t>
            </a:r>
            <a:r>
              <a:rPr lang="en-US" b="1" dirty="0"/>
              <a:t>: </a:t>
            </a:r>
            <a:r>
              <a:rPr lang="en-US" b="1" dirty="0" err="1"/>
              <a:t>ajuste</a:t>
            </a:r>
            <a:r>
              <a:rPr lang="en-US" b="1" dirty="0"/>
              <a:t> </a:t>
            </a:r>
            <a:r>
              <a:rPr lang="en-US" b="1" dirty="0" err="1"/>
              <a:t>assimétrico</a:t>
            </a:r>
            <a:r>
              <a:rPr lang="en-US" b="1" dirty="0"/>
              <a:t> </a:t>
            </a:r>
            <a:r>
              <a:rPr lang="en-US" b="1" dirty="0" err="1"/>
              <a:t>por</a:t>
            </a:r>
            <a:r>
              <a:rPr lang="en-US" b="1" dirty="0"/>
              <a:t> </a:t>
            </a:r>
            <a:r>
              <a:rPr lang="en-US" b="1" dirty="0" err="1"/>
              <a:t>validade</a:t>
            </a:r>
            <a:br>
              <a:rPr lang="en-US" dirty="0"/>
            </a:br>
            <a:r>
              <a:rPr lang="en-US" dirty="0"/>
              <a:t>Como </a:t>
            </a:r>
            <a:r>
              <a:rPr lang="en-US" dirty="0" err="1"/>
              <a:t>usamos</a:t>
            </a:r>
            <a:r>
              <a:rPr lang="en-US" dirty="0"/>
              <a:t> a </a:t>
            </a:r>
            <a:r>
              <a:rPr lang="en-US" dirty="0" err="1"/>
              <a:t>tabela</a:t>
            </a:r>
            <a:r>
              <a:rPr lang="en-US" dirty="0"/>
              <a:t> de shelf life (</a:t>
            </a:r>
            <a:r>
              <a:rPr lang="en-US" dirty="0" err="1"/>
              <a:t>não</a:t>
            </a:r>
            <a:r>
              <a:rPr lang="en-US" dirty="0"/>
              <a:t> </a:t>
            </a:r>
            <a:r>
              <a:rPr lang="en-US" dirty="0" err="1"/>
              <a:t>usada</a:t>
            </a:r>
            <a:r>
              <a:rPr lang="en-US" dirty="0"/>
              <a:t> antes) </a:t>
            </a:r>
            <a:r>
              <a:rPr lang="en-US" dirty="0" err="1"/>
              <a:t>pra</a:t>
            </a:r>
            <a:r>
              <a:rPr lang="en-US" dirty="0"/>
              <a:t> </a:t>
            </a:r>
            <a:r>
              <a:rPr lang="en-US" dirty="0" err="1"/>
              <a:t>enviesar</a:t>
            </a:r>
            <a:r>
              <a:rPr lang="en-US" dirty="0"/>
              <a:t> a </a:t>
            </a:r>
            <a:r>
              <a:rPr lang="en-US" dirty="0" err="1"/>
              <a:t>previsão</a:t>
            </a:r>
            <a:r>
              <a:rPr lang="en-US" dirty="0"/>
              <a:t>: </a:t>
            </a:r>
            <a:r>
              <a:rPr lang="en-US" dirty="0" err="1"/>
              <a:t>produtos</a:t>
            </a:r>
            <a:r>
              <a:rPr lang="en-US" dirty="0"/>
              <a:t> de </a:t>
            </a:r>
            <a:r>
              <a:rPr lang="en-US" dirty="0" err="1"/>
              <a:t>validade</a:t>
            </a:r>
            <a:r>
              <a:rPr lang="en-US" dirty="0"/>
              <a:t> </a:t>
            </a:r>
            <a:r>
              <a:rPr lang="en-US" dirty="0" err="1"/>
              <a:t>curta</a:t>
            </a:r>
            <a:r>
              <a:rPr lang="en-US" dirty="0"/>
              <a:t> → </a:t>
            </a:r>
            <a:r>
              <a:rPr lang="en-US" dirty="0" err="1"/>
              <a:t>previsão</a:t>
            </a:r>
            <a:r>
              <a:rPr lang="en-US" dirty="0"/>
              <a:t> </a:t>
            </a:r>
            <a:r>
              <a:rPr lang="en-US" dirty="0" err="1"/>
              <a:t>mais</a:t>
            </a:r>
            <a:r>
              <a:rPr lang="en-US" dirty="0"/>
              <a:t> </a:t>
            </a:r>
            <a:r>
              <a:rPr lang="en-US" dirty="0" err="1"/>
              <a:t>conservadora</a:t>
            </a:r>
            <a:r>
              <a:rPr lang="en-US" dirty="0"/>
              <a:t> (</a:t>
            </a:r>
            <a:r>
              <a:rPr lang="en-US" dirty="0" err="1"/>
              <a:t>reduz</a:t>
            </a:r>
            <a:r>
              <a:rPr lang="en-US" dirty="0"/>
              <a:t> write-off); </a:t>
            </a:r>
            <a:r>
              <a:rPr lang="en-US" dirty="0" err="1"/>
              <a:t>validade</a:t>
            </a:r>
            <a:r>
              <a:rPr lang="en-US" dirty="0"/>
              <a:t> longa → </a:t>
            </a:r>
            <a:r>
              <a:rPr lang="en-US" dirty="0" err="1"/>
              <a:t>previsão</a:t>
            </a:r>
            <a:r>
              <a:rPr lang="en-US" dirty="0"/>
              <a:t> </a:t>
            </a:r>
            <a:r>
              <a:rPr lang="en-US" dirty="0" err="1"/>
              <a:t>mais</a:t>
            </a:r>
            <a:r>
              <a:rPr lang="en-US" dirty="0"/>
              <a:t> </a:t>
            </a:r>
            <a:r>
              <a:rPr lang="en-US" dirty="0" err="1"/>
              <a:t>generosa</a:t>
            </a:r>
            <a:r>
              <a:rPr lang="en-US" dirty="0"/>
              <a:t> (</a:t>
            </a:r>
            <a:r>
              <a:rPr lang="en-US" dirty="0" err="1"/>
              <a:t>reduz</a:t>
            </a:r>
            <a:r>
              <a:rPr lang="en-US" dirty="0"/>
              <a:t> stock-out). </a:t>
            </a:r>
            <a:r>
              <a:rPr lang="en-US" dirty="0" err="1"/>
              <a:t>Conecta</a:t>
            </a:r>
            <a:r>
              <a:rPr lang="en-US" dirty="0"/>
              <a:t> a </a:t>
            </a:r>
            <a:r>
              <a:rPr lang="en-US" dirty="0" err="1"/>
              <a:t>solução</a:t>
            </a:r>
            <a:r>
              <a:rPr lang="en-US" dirty="0"/>
              <a:t> </a:t>
            </a:r>
            <a:r>
              <a:rPr lang="en-US" dirty="0" err="1"/>
              <a:t>técnica</a:t>
            </a:r>
            <a:r>
              <a:rPr lang="en-US" dirty="0"/>
              <a:t> de volta </a:t>
            </a:r>
            <a:r>
              <a:rPr lang="en-US" dirty="0" err="1"/>
              <a:t>aos</a:t>
            </a:r>
            <a:r>
              <a:rPr lang="en-US" dirty="0"/>
              <a:t> $ do </a:t>
            </a:r>
            <a:r>
              <a:rPr lang="en-US" dirty="0" err="1"/>
              <a:t>Problema</a:t>
            </a:r>
            <a:r>
              <a:rPr lang="en-US" dirty="0"/>
              <a:t> 1.</a:t>
            </a:r>
          </a:p>
        </p:txBody>
      </p:sp>
    </p:spTree>
    <p:extLst>
      <p:ext uri="{BB962C8B-B14F-4D97-AF65-F5344CB8AC3E}">
        <p14:creationId xmlns:p14="http://schemas.microsoft.com/office/powerpoint/2010/main" val="20869887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822E8-0D98-6BEF-2EF1-3E716D72231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355B7E9-2C63-BA97-E65E-50A8CE758F50}"/>
              </a:ext>
            </a:extLst>
          </p:cNvPr>
          <p:cNvSpPr>
            <a:spLocks noGrp="1"/>
          </p:cNvSpPr>
          <p:nvPr>
            <p:ph type="title"/>
          </p:nvPr>
        </p:nvSpPr>
        <p:spPr/>
        <p:txBody>
          <a:bodyPr>
            <a:normAutofit fontScale="90000"/>
          </a:bodyPr>
          <a:lstStyle/>
          <a:p>
            <a:r>
              <a:rPr lang="pt-BR" dirty="0" err="1"/>
              <a:t>Question</a:t>
            </a:r>
            <a:r>
              <a:rPr lang="pt-BR" dirty="0"/>
              <a:t> 3 - </a:t>
            </a:r>
            <a:r>
              <a:rPr lang="en-US" sz="3600" dirty="0"/>
              <a:t>How do you ensure that the proposed solutions will work? And to what extent will they resolve the issues?</a:t>
            </a:r>
            <a:endParaRPr lang="en-US" dirty="0"/>
          </a:p>
        </p:txBody>
      </p:sp>
      <p:sp>
        <p:nvSpPr>
          <p:cNvPr id="3" name="Espaço Reservado para Conteúdo 2">
            <a:extLst>
              <a:ext uri="{FF2B5EF4-FFF2-40B4-BE49-F238E27FC236}">
                <a16:creationId xmlns:a16="http://schemas.microsoft.com/office/drawing/2014/main" id="{F155D218-0C91-1FD6-D42E-B852B4453D9B}"/>
              </a:ext>
            </a:extLst>
          </p:cNvPr>
          <p:cNvSpPr>
            <a:spLocks noGrp="1"/>
          </p:cNvSpPr>
          <p:nvPr>
            <p:ph idx="1"/>
          </p:nvPr>
        </p:nvSpPr>
        <p:spPr/>
        <p:txBody>
          <a:bodyPr>
            <a:normAutofit lnSpcReduction="10000"/>
          </a:bodyPr>
          <a:lstStyle/>
          <a:p>
            <a:r>
              <a:rPr lang="pt-BR" dirty="0"/>
              <a:t>The models are </a:t>
            </a:r>
            <a:r>
              <a:rPr lang="pt-BR" dirty="0" err="1"/>
              <a:t>already</a:t>
            </a:r>
            <a:r>
              <a:rPr lang="pt-BR" dirty="0"/>
              <a:t> </a:t>
            </a:r>
            <a:r>
              <a:rPr lang="pt-BR" dirty="0" err="1"/>
              <a:t>tested</a:t>
            </a:r>
            <a:r>
              <a:rPr lang="pt-BR" dirty="0"/>
              <a:t> </a:t>
            </a:r>
            <a:r>
              <a:rPr lang="pt-BR" dirty="0" err="1"/>
              <a:t>with</a:t>
            </a:r>
            <a:r>
              <a:rPr lang="pt-BR" dirty="0"/>
              <a:t> </a:t>
            </a:r>
            <a:r>
              <a:rPr lang="pt-BR" dirty="0" err="1"/>
              <a:t>actuals</a:t>
            </a:r>
            <a:r>
              <a:rPr lang="pt-BR" dirty="0"/>
              <a:t> </a:t>
            </a:r>
            <a:r>
              <a:rPr lang="pt-BR" dirty="0" err="1"/>
              <a:t>history</a:t>
            </a:r>
            <a:r>
              <a:rPr lang="pt-BR" dirty="0"/>
              <a:t> </a:t>
            </a:r>
            <a:r>
              <a:rPr lang="pt-BR" dirty="0" err="1"/>
              <a:t>we</a:t>
            </a:r>
            <a:r>
              <a:rPr lang="pt-BR" dirty="0"/>
              <a:t> </a:t>
            </a:r>
            <a:r>
              <a:rPr lang="pt-BR" dirty="0" err="1"/>
              <a:t>have</a:t>
            </a:r>
            <a:r>
              <a:rPr lang="pt-BR" dirty="0"/>
              <a:t> </a:t>
            </a:r>
            <a:r>
              <a:rPr lang="pt-BR" dirty="0" err="1"/>
              <a:t>until</a:t>
            </a:r>
            <a:r>
              <a:rPr lang="pt-BR" dirty="0"/>
              <a:t> </a:t>
            </a:r>
            <a:r>
              <a:rPr lang="pt-BR" dirty="0" err="1"/>
              <a:t>now</a:t>
            </a:r>
            <a:r>
              <a:rPr lang="pt-BR" dirty="0"/>
              <a:t> </a:t>
            </a:r>
            <a:r>
              <a:rPr lang="pt-BR" dirty="0" err="1"/>
              <a:t>and</a:t>
            </a:r>
            <a:r>
              <a:rPr lang="pt-BR" dirty="0"/>
              <a:t> </a:t>
            </a:r>
            <a:r>
              <a:rPr lang="pt-BR" dirty="0" err="1"/>
              <a:t>those</a:t>
            </a:r>
            <a:r>
              <a:rPr lang="pt-BR" dirty="0"/>
              <a:t> </a:t>
            </a:r>
            <a:r>
              <a:rPr lang="pt-BR" dirty="0" err="1"/>
              <a:t>numbers</a:t>
            </a:r>
            <a:r>
              <a:rPr lang="pt-BR" dirty="0"/>
              <a:t> </a:t>
            </a:r>
            <a:r>
              <a:rPr lang="pt-BR" dirty="0" err="1"/>
              <a:t>showed</a:t>
            </a:r>
            <a:r>
              <a:rPr lang="pt-BR" dirty="0"/>
              <a:t> are </a:t>
            </a:r>
            <a:r>
              <a:rPr lang="pt-BR" dirty="0" err="1"/>
              <a:t>results</a:t>
            </a:r>
            <a:r>
              <a:rPr lang="pt-BR" dirty="0"/>
              <a:t> </a:t>
            </a:r>
            <a:r>
              <a:rPr lang="pt-BR" dirty="0" err="1"/>
              <a:t>of</a:t>
            </a:r>
            <a:r>
              <a:rPr lang="pt-BR" dirty="0"/>
              <a:t> </a:t>
            </a:r>
            <a:r>
              <a:rPr lang="pt-BR" dirty="0" err="1"/>
              <a:t>our</a:t>
            </a:r>
            <a:r>
              <a:rPr lang="pt-BR" dirty="0"/>
              <a:t> </a:t>
            </a:r>
            <a:r>
              <a:rPr lang="pt-BR" dirty="0" err="1"/>
              <a:t>the</a:t>
            </a:r>
            <a:r>
              <a:rPr lang="pt-BR" dirty="0"/>
              <a:t> </a:t>
            </a:r>
            <a:r>
              <a:rPr lang="pt-BR" dirty="0" err="1"/>
              <a:t>most</a:t>
            </a:r>
            <a:r>
              <a:rPr lang="pt-BR" dirty="0"/>
              <a:t> </a:t>
            </a:r>
            <a:r>
              <a:rPr lang="pt-BR" dirty="0" err="1"/>
              <a:t>updated</a:t>
            </a:r>
            <a:r>
              <a:rPr lang="pt-BR" dirty="0"/>
              <a:t> models from </a:t>
            </a:r>
            <a:r>
              <a:rPr lang="pt-BR" dirty="0" err="1"/>
              <a:t>the</a:t>
            </a:r>
            <a:r>
              <a:rPr lang="pt-BR" dirty="0"/>
              <a:t> </a:t>
            </a:r>
            <a:r>
              <a:rPr lang="pt-BR" dirty="0" err="1"/>
              <a:t>experiments</a:t>
            </a:r>
            <a:endParaRPr lang="pt-BR" dirty="0"/>
          </a:p>
          <a:p>
            <a:r>
              <a:rPr lang="pt-BR" dirty="0"/>
              <a:t>For </a:t>
            </a:r>
            <a:r>
              <a:rPr lang="pt-BR" dirty="0" err="1"/>
              <a:t>obtain</a:t>
            </a:r>
            <a:r>
              <a:rPr lang="pt-BR" dirty="0"/>
              <a:t> na </a:t>
            </a:r>
            <a:r>
              <a:rPr lang="pt-BR" dirty="0" err="1"/>
              <a:t>accuracy</a:t>
            </a:r>
            <a:r>
              <a:rPr lang="pt-BR" dirty="0"/>
              <a:t> more close </a:t>
            </a:r>
            <a:r>
              <a:rPr lang="pt-BR" dirty="0" err="1"/>
              <a:t>to</a:t>
            </a:r>
            <a:r>
              <a:rPr lang="pt-BR" dirty="0"/>
              <a:t> </a:t>
            </a:r>
            <a:r>
              <a:rPr lang="pt-BR" dirty="0" err="1"/>
              <a:t>the</a:t>
            </a:r>
            <a:r>
              <a:rPr lang="pt-BR" dirty="0"/>
              <a:t> reality, </a:t>
            </a:r>
            <a:r>
              <a:rPr lang="pt-BR" dirty="0" err="1"/>
              <a:t>first</a:t>
            </a:r>
            <a:r>
              <a:rPr lang="pt-BR" dirty="0"/>
              <a:t> </a:t>
            </a:r>
            <a:r>
              <a:rPr lang="pt-BR" dirty="0" err="1"/>
              <a:t>we</a:t>
            </a:r>
            <a:r>
              <a:rPr lang="pt-BR" dirty="0"/>
              <a:t> </a:t>
            </a:r>
            <a:r>
              <a:rPr lang="pt-BR" dirty="0" err="1"/>
              <a:t>train</a:t>
            </a:r>
            <a:r>
              <a:rPr lang="pt-BR" dirty="0"/>
              <a:t> </a:t>
            </a:r>
            <a:r>
              <a:rPr lang="pt-BR" dirty="0" err="1"/>
              <a:t>the</a:t>
            </a:r>
            <a:r>
              <a:rPr lang="pt-BR" dirty="0"/>
              <a:t> models </a:t>
            </a:r>
            <a:r>
              <a:rPr lang="pt-BR" dirty="0" err="1"/>
              <a:t>and</a:t>
            </a:r>
            <a:r>
              <a:rPr lang="pt-BR" dirty="0"/>
              <a:t> </a:t>
            </a:r>
            <a:r>
              <a:rPr lang="pt-BR" dirty="0" err="1"/>
              <a:t>let</a:t>
            </a:r>
            <a:r>
              <a:rPr lang="pt-BR" dirty="0"/>
              <a:t> out </a:t>
            </a:r>
            <a:r>
              <a:rPr lang="pt-BR" dirty="0" err="1"/>
              <a:t>of</a:t>
            </a:r>
            <a:r>
              <a:rPr lang="pt-BR" dirty="0"/>
              <a:t> </a:t>
            </a:r>
            <a:r>
              <a:rPr lang="pt-BR" dirty="0" err="1"/>
              <a:t>our</a:t>
            </a:r>
            <a:r>
              <a:rPr lang="pt-BR" dirty="0"/>
              <a:t> models </a:t>
            </a:r>
            <a:r>
              <a:rPr lang="pt-BR" dirty="0" err="1"/>
              <a:t>the</a:t>
            </a:r>
            <a:r>
              <a:rPr lang="pt-BR" dirty="0"/>
              <a:t> </a:t>
            </a:r>
            <a:r>
              <a:rPr lang="pt-BR" dirty="0" err="1"/>
              <a:t>lasts</a:t>
            </a:r>
            <a:r>
              <a:rPr lang="pt-BR" dirty="0"/>
              <a:t> </a:t>
            </a:r>
            <a:r>
              <a:rPr lang="pt-BR" dirty="0" err="1"/>
              <a:t>weeks</a:t>
            </a:r>
            <a:r>
              <a:rPr lang="pt-BR" dirty="0"/>
              <a:t> (</a:t>
            </a:r>
            <a:r>
              <a:rPr lang="pt-BR" dirty="0" err="1"/>
              <a:t>the</a:t>
            </a:r>
            <a:r>
              <a:rPr lang="pt-BR" dirty="0"/>
              <a:t> </a:t>
            </a:r>
            <a:r>
              <a:rPr lang="pt-BR" dirty="0" err="1"/>
              <a:t>ones</a:t>
            </a:r>
            <a:r>
              <a:rPr lang="pt-BR" dirty="0"/>
              <a:t> </a:t>
            </a:r>
            <a:r>
              <a:rPr lang="pt-BR" dirty="0" err="1"/>
              <a:t>we</a:t>
            </a:r>
            <a:r>
              <a:rPr lang="pt-BR" dirty="0"/>
              <a:t> </a:t>
            </a:r>
            <a:r>
              <a:rPr lang="pt-BR" dirty="0" err="1"/>
              <a:t>now</a:t>
            </a:r>
            <a:r>
              <a:rPr lang="pt-BR" dirty="0"/>
              <a:t> </a:t>
            </a:r>
            <a:r>
              <a:rPr lang="pt-BR" dirty="0" err="1"/>
              <a:t>the</a:t>
            </a:r>
            <a:r>
              <a:rPr lang="pt-BR" dirty="0"/>
              <a:t> real SI) this </a:t>
            </a:r>
            <a:r>
              <a:rPr lang="pt-BR" dirty="0" err="1"/>
              <a:t>way</a:t>
            </a:r>
            <a:r>
              <a:rPr lang="pt-BR" dirty="0"/>
              <a:t> </a:t>
            </a:r>
            <a:r>
              <a:rPr lang="pt-BR" dirty="0" err="1"/>
              <a:t>we</a:t>
            </a:r>
            <a:r>
              <a:rPr lang="pt-BR" dirty="0"/>
              <a:t> </a:t>
            </a:r>
            <a:r>
              <a:rPr lang="pt-BR" dirty="0" err="1"/>
              <a:t>can</a:t>
            </a:r>
            <a:r>
              <a:rPr lang="pt-BR" dirty="0"/>
              <a:t> </a:t>
            </a:r>
            <a:r>
              <a:rPr lang="pt-BR" dirty="0" err="1"/>
              <a:t>calculate</a:t>
            </a:r>
            <a:r>
              <a:rPr lang="pt-BR" dirty="0"/>
              <a:t> </a:t>
            </a:r>
            <a:r>
              <a:rPr lang="pt-BR" dirty="0" err="1"/>
              <a:t>the</a:t>
            </a:r>
            <a:r>
              <a:rPr lang="pt-BR" dirty="0"/>
              <a:t> </a:t>
            </a:r>
            <a:r>
              <a:rPr lang="pt-BR" dirty="0" err="1"/>
              <a:t>accuracy</a:t>
            </a:r>
            <a:r>
              <a:rPr lang="pt-BR" dirty="0"/>
              <a:t> </a:t>
            </a:r>
            <a:r>
              <a:rPr lang="pt-BR" dirty="0" err="1"/>
              <a:t>of</a:t>
            </a:r>
            <a:r>
              <a:rPr lang="pt-BR" dirty="0"/>
              <a:t> </a:t>
            </a:r>
            <a:r>
              <a:rPr lang="pt-BR" dirty="0" err="1"/>
              <a:t>our</a:t>
            </a:r>
            <a:r>
              <a:rPr lang="pt-BR" dirty="0"/>
              <a:t> models: </a:t>
            </a:r>
            <a:r>
              <a:rPr lang="pt-BR" dirty="0" err="1"/>
              <a:t>comparing</a:t>
            </a:r>
            <a:r>
              <a:rPr lang="pt-BR" dirty="0"/>
              <a:t> </a:t>
            </a:r>
            <a:r>
              <a:rPr lang="pt-BR" dirty="0" err="1"/>
              <a:t>the</a:t>
            </a:r>
            <a:r>
              <a:rPr lang="pt-BR" dirty="0"/>
              <a:t> </a:t>
            </a:r>
            <a:r>
              <a:rPr lang="pt-BR" dirty="0" err="1"/>
              <a:t>predicted</a:t>
            </a:r>
            <a:r>
              <a:rPr lang="pt-BR" dirty="0"/>
              <a:t> </a:t>
            </a:r>
            <a:r>
              <a:rPr lang="pt-BR" dirty="0" err="1"/>
              <a:t>to</a:t>
            </a:r>
            <a:r>
              <a:rPr lang="pt-BR" dirty="0"/>
              <a:t> </a:t>
            </a:r>
            <a:r>
              <a:rPr lang="pt-BR" dirty="0" err="1"/>
              <a:t>the</a:t>
            </a:r>
            <a:r>
              <a:rPr lang="pt-BR" dirty="0"/>
              <a:t> real SI </a:t>
            </a:r>
            <a:r>
              <a:rPr lang="pt-BR" dirty="0" err="1"/>
              <a:t>of</a:t>
            </a:r>
            <a:r>
              <a:rPr lang="pt-BR" dirty="0"/>
              <a:t> </a:t>
            </a:r>
            <a:r>
              <a:rPr lang="pt-BR" dirty="0" err="1"/>
              <a:t>the</a:t>
            </a:r>
            <a:r>
              <a:rPr lang="pt-BR" dirty="0"/>
              <a:t> </a:t>
            </a:r>
            <a:r>
              <a:rPr lang="pt-BR" dirty="0" err="1"/>
              <a:t>last</a:t>
            </a:r>
            <a:r>
              <a:rPr lang="pt-BR" dirty="0"/>
              <a:t> </a:t>
            </a:r>
            <a:r>
              <a:rPr lang="pt-BR" dirty="0" err="1"/>
              <a:t>weeks</a:t>
            </a:r>
            <a:endParaRPr lang="pt-BR" dirty="0"/>
          </a:p>
          <a:p>
            <a:endParaRPr lang="pt-BR" dirty="0"/>
          </a:p>
          <a:p>
            <a:r>
              <a:rPr lang="pt-BR" dirty="0"/>
              <a:t>For </a:t>
            </a:r>
            <a:r>
              <a:rPr lang="pt-BR" dirty="0" err="1"/>
              <a:t>the</a:t>
            </a:r>
            <a:r>
              <a:rPr lang="pt-BR" dirty="0"/>
              <a:t> final </a:t>
            </a:r>
            <a:r>
              <a:rPr lang="pt-BR" dirty="0" err="1"/>
              <a:t>forecast</a:t>
            </a:r>
            <a:r>
              <a:rPr lang="pt-BR" dirty="0"/>
              <a:t> </a:t>
            </a:r>
            <a:r>
              <a:rPr lang="pt-BR" dirty="0" err="1"/>
              <a:t>we</a:t>
            </a:r>
            <a:r>
              <a:rPr lang="pt-BR" dirty="0"/>
              <a:t> </a:t>
            </a:r>
            <a:r>
              <a:rPr lang="pt-BR" dirty="0" err="1"/>
              <a:t>re-train</a:t>
            </a:r>
            <a:r>
              <a:rPr lang="pt-BR" dirty="0"/>
              <a:t> </a:t>
            </a:r>
            <a:r>
              <a:rPr lang="pt-BR" dirty="0" err="1"/>
              <a:t>the</a:t>
            </a:r>
            <a:r>
              <a:rPr lang="pt-BR" dirty="0"/>
              <a:t> models </a:t>
            </a:r>
            <a:r>
              <a:rPr lang="pt-BR" dirty="0" err="1"/>
              <a:t>with</a:t>
            </a:r>
            <a:r>
              <a:rPr lang="pt-BR" dirty="0"/>
              <a:t> </a:t>
            </a:r>
            <a:r>
              <a:rPr lang="pt-BR" dirty="0" err="1"/>
              <a:t>the</a:t>
            </a:r>
            <a:r>
              <a:rPr lang="pt-BR" dirty="0"/>
              <a:t> complete data </a:t>
            </a:r>
            <a:r>
              <a:rPr lang="pt-BR" dirty="0" err="1"/>
              <a:t>until</a:t>
            </a:r>
            <a:r>
              <a:rPr lang="pt-BR" dirty="0"/>
              <a:t> </a:t>
            </a:r>
            <a:r>
              <a:rPr lang="pt-BR" dirty="0" err="1"/>
              <a:t>the</a:t>
            </a:r>
            <a:r>
              <a:rPr lang="pt-BR" dirty="0"/>
              <a:t> </a:t>
            </a:r>
            <a:r>
              <a:rPr lang="pt-BR" dirty="0" err="1"/>
              <a:t>most</a:t>
            </a:r>
            <a:r>
              <a:rPr lang="pt-BR" dirty="0"/>
              <a:t> </a:t>
            </a:r>
            <a:r>
              <a:rPr lang="pt-BR" dirty="0" err="1"/>
              <a:t>recent</a:t>
            </a:r>
            <a:r>
              <a:rPr lang="pt-BR" dirty="0"/>
              <a:t> point </a:t>
            </a:r>
            <a:r>
              <a:rPr lang="pt-BR" dirty="0" err="1"/>
              <a:t>of</a:t>
            </a:r>
            <a:r>
              <a:rPr lang="pt-BR" dirty="0"/>
              <a:t> data </a:t>
            </a:r>
            <a:r>
              <a:rPr lang="pt-BR" dirty="0" err="1"/>
              <a:t>we</a:t>
            </a:r>
            <a:r>
              <a:rPr lang="pt-BR" dirty="0"/>
              <a:t> </a:t>
            </a:r>
            <a:r>
              <a:rPr lang="pt-BR" dirty="0" err="1"/>
              <a:t>have</a:t>
            </a:r>
            <a:r>
              <a:rPr lang="pt-BR" dirty="0"/>
              <a:t>, </a:t>
            </a:r>
            <a:r>
              <a:rPr lang="pt-BR" dirty="0" err="1"/>
              <a:t>so</a:t>
            </a:r>
            <a:r>
              <a:rPr lang="pt-BR" dirty="0"/>
              <a:t> </a:t>
            </a:r>
            <a:r>
              <a:rPr lang="pt-BR" dirty="0" err="1"/>
              <a:t>we</a:t>
            </a:r>
            <a:r>
              <a:rPr lang="pt-BR" dirty="0"/>
              <a:t> are </a:t>
            </a:r>
            <a:r>
              <a:rPr lang="pt-BR" dirty="0" err="1"/>
              <a:t>sure</a:t>
            </a:r>
            <a:r>
              <a:rPr lang="pt-BR" dirty="0"/>
              <a:t> </a:t>
            </a:r>
            <a:r>
              <a:rPr lang="pt-BR" dirty="0" err="1"/>
              <a:t>that</a:t>
            </a:r>
            <a:r>
              <a:rPr lang="pt-BR" dirty="0"/>
              <a:t> </a:t>
            </a:r>
            <a:r>
              <a:rPr lang="pt-BR" dirty="0" err="1"/>
              <a:t>the</a:t>
            </a:r>
            <a:r>
              <a:rPr lang="pt-BR" dirty="0"/>
              <a:t> “sutilezas” </a:t>
            </a:r>
            <a:r>
              <a:rPr lang="pt-BR" dirty="0" err="1"/>
              <a:t>of</a:t>
            </a:r>
            <a:r>
              <a:rPr lang="pt-BR" dirty="0"/>
              <a:t> </a:t>
            </a:r>
            <a:r>
              <a:rPr lang="pt-BR" dirty="0" err="1"/>
              <a:t>the</a:t>
            </a:r>
            <a:r>
              <a:rPr lang="pt-BR" dirty="0"/>
              <a:t> </a:t>
            </a:r>
            <a:r>
              <a:rPr lang="pt-BR" dirty="0" err="1"/>
              <a:t>last</a:t>
            </a:r>
            <a:r>
              <a:rPr lang="pt-BR" dirty="0"/>
              <a:t> </a:t>
            </a:r>
            <a:r>
              <a:rPr lang="pt-BR" dirty="0" err="1"/>
              <a:t>weeks</a:t>
            </a:r>
            <a:r>
              <a:rPr lang="pt-BR" dirty="0"/>
              <a:t> are </a:t>
            </a:r>
            <a:r>
              <a:rPr lang="pt-BR" dirty="0" err="1"/>
              <a:t>being</a:t>
            </a:r>
            <a:r>
              <a:rPr lang="pt-BR" dirty="0"/>
              <a:t> </a:t>
            </a:r>
            <a:r>
              <a:rPr lang="pt-BR" dirty="0" err="1"/>
              <a:t>considered</a:t>
            </a:r>
            <a:r>
              <a:rPr lang="pt-BR" dirty="0"/>
              <a:t> for </a:t>
            </a:r>
            <a:r>
              <a:rPr lang="pt-BR" dirty="0" err="1"/>
              <a:t>the</a:t>
            </a:r>
            <a:r>
              <a:rPr lang="pt-BR" dirty="0"/>
              <a:t> SI </a:t>
            </a:r>
            <a:r>
              <a:rPr lang="pt-BR" dirty="0" err="1"/>
              <a:t>forecast</a:t>
            </a:r>
            <a:endParaRPr lang="pt-BR" dirty="0"/>
          </a:p>
          <a:p>
            <a:endParaRPr lang="en-US" dirty="0"/>
          </a:p>
        </p:txBody>
      </p:sp>
    </p:spTree>
    <p:extLst>
      <p:ext uri="{BB962C8B-B14F-4D97-AF65-F5344CB8AC3E}">
        <p14:creationId xmlns:p14="http://schemas.microsoft.com/office/powerpoint/2010/main" val="3722248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CB880-7CB8-86AF-2D8F-D1AACF45756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CA64094-F11C-DB64-47D7-9BF6D269CD98}"/>
              </a:ext>
            </a:extLst>
          </p:cNvPr>
          <p:cNvSpPr>
            <a:spLocks noGrp="1"/>
          </p:cNvSpPr>
          <p:nvPr>
            <p:ph type="title"/>
          </p:nvPr>
        </p:nvSpPr>
        <p:spPr/>
        <p:txBody>
          <a:bodyPr>
            <a:normAutofit fontScale="90000"/>
          </a:bodyPr>
          <a:lstStyle/>
          <a:p>
            <a:r>
              <a:rPr lang="pt-BR" dirty="0" err="1"/>
              <a:t>Question</a:t>
            </a:r>
            <a:r>
              <a:rPr lang="pt-BR" dirty="0"/>
              <a:t> 4 - </a:t>
            </a:r>
            <a:r>
              <a:rPr lang="en-US" dirty="0"/>
              <a:t>What would be the next steps to continue with your plan, quick wins, and risks to consider? </a:t>
            </a:r>
          </a:p>
        </p:txBody>
      </p:sp>
      <p:sp>
        <p:nvSpPr>
          <p:cNvPr id="3" name="Espaço Reservado para Conteúdo 2">
            <a:extLst>
              <a:ext uri="{FF2B5EF4-FFF2-40B4-BE49-F238E27FC236}">
                <a16:creationId xmlns:a16="http://schemas.microsoft.com/office/drawing/2014/main" id="{7289C2DA-28DE-E3D6-9630-044DA0AA18A2}"/>
              </a:ext>
            </a:extLst>
          </p:cNvPr>
          <p:cNvSpPr>
            <a:spLocks noGrp="1"/>
          </p:cNvSpPr>
          <p:nvPr>
            <p:ph idx="1"/>
          </p:nvPr>
        </p:nvSpPr>
        <p:spPr/>
        <p:txBody>
          <a:bodyPr/>
          <a:lstStyle/>
          <a:p>
            <a:r>
              <a:rPr lang="en-US" b="1" dirty="0"/>
              <a:t>Roadmap / </a:t>
            </a:r>
            <a:r>
              <a:rPr lang="en-US" b="1" dirty="0" err="1"/>
              <a:t>próximos</a:t>
            </a:r>
            <a:r>
              <a:rPr lang="en-US" b="1" dirty="0"/>
              <a:t> </a:t>
            </a:r>
            <a:r>
              <a:rPr lang="en-US" b="1" dirty="0" err="1"/>
              <a:t>passos</a:t>
            </a:r>
            <a:br>
              <a:rPr lang="en-US" dirty="0"/>
            </a:br>
            <a:r>
              <a:rPr lang="en-US" dirty="0" err="1"/>
              <a:t>Linha</a:t>
            </a:r>
            <a:r>
              <a:rPr lang="en-US" dirty="0"/>
              <a:t> do tempo: o </a:t>
            </a:r>
            <a:r>
              <a:rPr lang="en-US" dirty="0" err="1"/>
              <a:t>que</a:t>
            </a:r>
            <a:r>
              <a:rPr lang="en-US" dirty="0"/>
              <a:t> </a:t>
            </a:r>
            <a:r>
              <a:rPr lang="en-US" dirty="0" err="1"/>
              <a:t>entra</a:t>
            </a:r>
            <a:r>
              <a:rPr lang="en-US" dirty="0"/>
              <a:t> </a:t>
            </a:r>
            <a:r>
              <a:rPr lang="en-US" dirty="0" err="1"/>
              <a:t>em</a:t>
            </a:r>
            <a:r>
              <a:rPr lang="en-US" dirty="0"/>
              <a:t> </a:t>
            </a:r>
            <a:r>
              <a:rPr lang="en-US" dirty="0" err="1"/>
              <a:t>produção</a:t>
            </a:r>
            <a:r>
              <a:rPr lang="en-US" dirty="0"/>
              <a:t> </a:t>
            </a:r>
            <a:r>
              <a:rPr lang="en-US" dirty="0" err="1"/>
              <a:t>primeiro</a:t>
            </a:r>
            <a:r>
              <a:rPr lang="en-US" dirty="0"/>
              <a:t>, o </a:t>
            </a:r>
            <a:r>
              <a:rPr lang="en-US" dirty="0" err="1"/>
              <a:t>que</a:t>
            </a:r>
            <a:r>
              <a:rPr lang="en-US" dirty="0"/>
              <a:t> </a:t>
            </a:r>
            <a:r>
              <a:rPr lang="en-US" dirty="0" err="1"/>
              <a:t>precisa</a:t>
            </a:r>
            <a:r>
              <a:rPr lang="en-US" dirty="0"/>
              <a:t> de </a:t>
            </a:r>
            <a:r>
              <a:rPr lang="en-US" dirty="0" err="1"/>
              <a:t>mais</a:t>
            </a:r>
            <a:r>
              <a:rPr lang="en-US" dirty="0"/>
              <a:t> </a:t>
            </a:r>
            <a:r>
              <a:rPr lang="en-US" dirty="0" err="1"/>
              <a:t>validação</a:t>
            </a:r>
            <a:r>
              <a:rPr lang="en-US" dirty="0"/>
              <a:t>.</a:t>
            </a:r>
          </a:p>
        </p:txBody>
      </p:sp>
    </p:spTree>
    <p:extLst>
      <p:ext uri="{BB962C8B-B14F-4D97-AF65-F5344CB8AC3E}">
        <p14:creationId xmlns:p14="http://schemas.microsoft.com/office/powerpoint/2010/main" val="35930811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CD5AA-2156-EFA6-7720-06D9EB1B7D0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6904976-98F5-C8CB-5DBE-EB742E25D2A1}"/>
              </a:ext>
            </a:extLst>
          </p:cNvPr>
          <p:cNvSpPr>
            <a:spLocks noGrp="1"/>
          </p:cNvSpPr>
          <p:nvPr>
            <p:ph type="title"/>
          </p:nvPr>
        </p:nvSpPr>
        <p:spPr/>
        <p:txBody>
          <a:bodyPr>
            <a:normAutofit fontScale="90000"/>
          </a:bodyPr>
          <a:lstStyle/>
          <a:p>
            <a:r>
              <a:rPr lang="pt-BR" dirty="0" err="1"/>
              <a:t>Question</a:t>
            </a:r>
            <a:r>
              <a:rPr lang="pt-BR" dirty="0"/>
              <a:t> 4 - </a:t>
            </a:r>
            <a:r>
              <a:rPr lang="en-US" dirty="0"/>
              <a:t>What would be the next steps to continue with your plan, quick wins, and risks to consider? </a:t>
            </a:r>
          </a:p>
        </p:txBody>
      </p:sp>
      <p:sp>
        <p:nvSpPr>
          <p:cNvPr id="3" name="Espaço Reservado para Conteúdo 2">
            <a:extLst>
              <a:ext uri="{FF2B5EF4-FFF2-40B4-BE49-F238E27FC236}">
                <a16:creationId xmlns:a16="http://schemas.microsoft.com/office/drawing/2014/main" id="{5A5301BB-E75B-16D6-4F78-1157C16ED18D}"/>
              </a:ext>
            </a:extLst>
          </p:cNvPr>
          <p:cNvSpPr>
            <a:spLocks noGrp="1"/>
          </p:cNvSpPr>
          <p:nvPr>
            <p:ph idx="1"/>
          </p:nvPr>
        </p:nvSpPr>
        <p:spPr/>
        <p:txBody>
          <a:bodyPr/>
          <a:lstStyle/>
          <a:p>
            <a:r>
              <a:rPr lang="en-US" b="1" dirty="0"/>
              <a:t>Quick wins</a:t>
            </a:r>
            <a:br>
              <a:rPr lang="en-US" dirty="0"/>
            </a:br>
            <a:r>
              <a:rPr lang="en-US" dirty="0"/>
              <a:t>O </a:t>
            </a:r>
            <a:r>
              <a:rPr lang="en-US" dirty="0" err="1"/>
              <a:t>que</a:t>
            </a:r>
            <a:r>
              <a:rPr lang="en-US" dirty="0"/>
              <a:t> </a:t>
            </a:r>
            <a:r>
              <a:rPr lang="en-US" dirty="0" err="1"/>
              <a:t>pode</a:t>
            </a:r>
            <a:r>
              <a:rPr lang="en-US" dirty="0"/>
              <a:t> ser </a:t>
            </a:r>
            <a:r>
              <a:rPr lang="en-US" dirty="0" err="1"/>
              <a:t>implementado</a:t>
            </a:r>
            <a:r>
              <a:rPr lang="en-US" dirty="0"/>
              <a:t> </a:t>
            </a:r>
            <a:r>
              <a:rPr lang="en-US" dirty="0" err="1"/>
              <a:t>rápido</a:t>
            </a:r>
            <a:r>
              <a:rPr lang="en-US" dirty="0"/>
              <a:t> e </a:t>
            </a:r>
            <a:r>
              <a:rPr lang="en-US" dirty="0" err="1"/>
              <a:t>já</a:t>
            </a:r>
            <a:r>
              <a:rPr lang="en-US" dirty="0"/>
              <a:t> </a:t>
            </a:r>
            <a:r>
              <a:rPr lang="en-US" dirty="0" err="1"/>
              <a:t>gera</a:t>
            </a:r>
            <a:r>
              <a:rPr lang="en-US" dirty="0"/>
              <a:t> valor (ex: </a:t>
            </a:r>
            <a:r>
              <a:rPr lang="en-US" dirty="0" err="1"/>
              <a:t>métrica</a:t>
            </a:r>
            <a:r>
              <a:rPr lang="en-US" dirty="0"/>
              <a:t> WAPE, </a:t>
            </a:r>
            <a:r>
              <a:rPr lang="en-US" dirty="0" err="1"/>
              <a:t>restrição</a:t>
            </a:r>
            <a:r>
              <a:rPr lang="en-US" dirty="0"/>
              <a:t> </a:t>
            </a:r>
            <a:r>
              <a:rPr lang="en-US" dirty="0" err="1"/>
              <a:t>monotônica</a:t>
            </a:r>
            <a:r>
              <a:rPr lang="en-US" dirty="0"/>
              <a:t>) vs o </a:t>
            </a:r>
            <a:r>
              <a:rPr lang="en-US" dirty="0" err="1"/>
              <a:t>que</a:t>
            </a:r>
            <a:r>
              <a:rPr lang="en-US" dirty="0"/>
              <a:t> é </a:t>
            </a:r>
            <a:r>
              <a:rPr lang="en-US" dirty="0" err="1"/>
              <a:t>mais</a:t>
            </a:r>
            <a:r>
              <a:rPr lang="en-US" dirty="0"/>
              <a:t> </a:t>
            </a:r>
            <a:r>
              <a:rPr lang="en-US" dirty="0" err="1"/>
              <a:t>estrutural</a:t>
            </a:r>
            <a:r>
              <a:rPr lang="en-US" dirty="0"/>
              <a:t> (bake-off </a:t>
            </a:r>
            <a:r>
              <a:rPr lang="en-US" dirty="0" err="1"/>
              <a:t>completo</a:t>
            </a:r>
            <a:r>
              <a:rPr lang="en-US" dirty="0"/>
              <a:t>).</a:t>
            </a:r>
          </a:p>
        </p:txBody>
      </p:sp>
    </p:spTree>
    <p:extLst>
      <p:ext uri="{BB962C8B-B14F-4D97-AF65-F5344CB8AC3E}">
        <p14:creationId xmlns:p14="http://schemas.microsoft.com/office/powerpoint/2010/main" val="8197316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BE635-2AC3-4BE6-88D6-9B810B3DF70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3D18C62-28BE-4EA1-9068-D57CD67D81E1}"/>
              </a:ext>
            </a:extLst>
          </p:cNvPr>
          <p:cNvSpPr>
            <a:spLocks noGrp="1"/>
          </p:cNvSpPr>
          <p:nvPr>
            <p:ph type="title"/>
          </p:nvPr>
        </p:nvSpPr>
        <p:spPr/>
        <p:txBody>
          <a:bodyPr>
            <a:normAutofit fontScale="90000"/>
          </a:bodyPr>
          <a:lstStyle/>
          <a:p>
            <a:r>
              <a:rPr lang="pt-BR" dirty="0" err="1"/>
              <a:t>Question</a:t>
            </a:r>
            <a:r>
              <a:rPr lang="pt-BR" dirty="0"/>
              <a:t> 4 - </a:t>
            </a:r>
            <a:r>
              <a:rPr lang="en-US" dirty="0"/>
              <a:t>What would be the next steps to continue with your plan, quick wins, and risks to consider? </a:t>
            </a:r>
          </a:p>
        </p:txBody>
      </p:sp>
      <p:sp>
        <p:nvSpPr>
          <p:cNvPr id="3" name="Espaço Reservado para Conteúdo 2">
            <a:extLst>
              <a:ext uri="{FF2B5EF4-FFF2-40B4-BE49-F238E27FC236}">
                <a16:creationId xmlns:a16="http://schemas.microsoft.com/office/drawing/2014/main" id="{BDF87AC6-FF93-253E-7609-9CEA1310EE34}"/>
              </a:ext>
            </a:extLst>
          </p:cNvPr>
          <p:cNvSpPr>
            <a:spLocks noGrp="1"/>
          </p:cNvSpPr>
          <p:nvPr>
            <p:ph idx="1"/>
          </p:nvPr>
        </p:nvSpPr>
        <p:spPr/>
        <p:txBody>
          <a:bodyPr/>
          <a:lstStyle/>
          <a:p>
            <a:r>
              <a:rPr lang="en-US" b="1" dirty="0" err="1"/>
              <a:t>Riscos</a:t>
            </a:r>
            <a:r>
              <a:rPr lang="en-US" b="1" dirty="0"/>
              <a:t> e </a:t>
            </a:r>
            <a:r>
              <a:rPr lang="en-US" b="1" dirty="0" err="1"/>
              <a:t>mitigação</a:t>
            </a:r>
            <a:br>
              <a:rPr lang="en-US" dirty="0"/>
            </a:br>
            <a:r>
              <a:rPr lang="en-US" dirty="0"/>
              <a:t>Ex: </a:t>
            </a:r>
            <a:r>
              <a:rPr lang="en-US" dirty="0" err="1"/>
              <a:t>risco</a:t>
            </a:r>
            <a:r>
              <a:rPr lang="en-US" dirty="0"/>
              <a:t> de overfitting </a:t>
            </a:r>
            <a:r>
              <a:rPr lang="en-US" dirty="0" err="1"/>
              <a:t>por</a:t>
            </a:r>
            <a:r>
              <a:rPr lang="en-US" dirty="0"/>
              <a:t> SKU-canal (</a:t>
            </a:r>
            <a:r>
              <a:rPr lang="en-US" dirty="0" err="1"/>
              <a:t>menos</a:t>
            </a:r>
            <a:r>
              <a:rPr lang="en-US" dirty="0"/>
              <a:t> dados </a:t>
            </a:r>
            <a:r>
              <a:rPr lang="en-US" dirty="0" err="1"/>
              <a:t>por</a:t>
            </a:r>
            <a:r>
              <a:rPr lang="en-US" dirty="0"/>
              <a:t> </a:t>
            </a:r>
            <a:r>
              <a:rPr lang="en-US" dirty="0" err="1"/>
              <a:t>modelo</a:t>
            </a:r>
            <a:r>
              <a:rPr lang="en-US" dirty="0"/>
              <a:t>), </a:t>
            </a:r>
            <a:r>
              <a:rPr lang="en-US" dirty="0" err="1"/>
              <a:t>necessidade</a:t>
            </a:r>
            <a:r>
              <a:rPr lang="en-US" dirty="0"/>
              <a:t> de </a:t>
            </a:r>
            <a:r>
              <a:rPr lang="en-US" dirty="0" err="1"/>
              <a:t>retreino</a:t>
            </a:r>
            <a:r>
              <a:rPr lang="en-US" dirty="0"/>
              <a:t> </a:t>
            </a:r>
            <a:r>
              <a:rPr lang="en-US" dirty="0" err="1"/>
              <a:t>periódico</a:t>
            </a:r>
            <a:r>
              <a:rPr lang="en-US" dirty="0"/>
              <a:t>, </a:t>
            </a:r>
            <a:r>
              <a:rPr lang="en-US" dirty="0" err="1"/>
              <a:t>dependência</a:t>
            </a:r>
            <a:r>
              <a:rPr lang="en-US" dirty="0"/>
              <a:t> de </a:t>
            </a:r>
            <a:r>
              <a:rPr lang="en-US" dirty="0" err="1"/>
              <a:t>qualidade</a:t>
            </a:r>
            <a:r>
              <a:rPr lang="en-US" dirty="0"/>
              <a:t> dos dados de </a:t>
            </a:r>
            <a:r>
              <a:rPr lang="en-US" dirty="0" err="1"/>
              <a:t>variáveis</a:t>
            </a:r>
            <a:r>
              <a:rPr lang="en-US" dirty="0"/>
              <a:t> </a:t>
            </a:r>
            <a:r>
              <a:rPr lang="en-US" dirty="0" err="1"/>
              <a:t>externas</a:t>
            </a:r>
            <a:r>
              <a:rPr lang="en-US" dirty="0"/>
              <a:t> </a:t>
            </a:r>
            <a:r>
              <a:rPr lang="en-US" dirty="0" err="1"/>
              <a:t>futuras</a:t>
            </a:r>
            <a:r>
              <a:rPr lang="en-US" dirty="0"/>
              <a:t>.</a:t>
            </a:r>
          </a:p>
        </p:txBody>
      </p:sp>
    </p:spTree>
    <p:extLst>
      <p:ext uri="{BB962C8B-B14F-4D97-AF65-F5344CB8AC3E}">
        <p14:creationId xmlns:p14="http://schemas.microsoft.com/office/powerpoint/2010/main" val="12035710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325153D-B66B-CF51-69B1-8DF85B31963D}"/>
              </a:ext>
            </a:extLst>
          </p:cNvPr>
          <p:cNvSpPr>
            <a:spLocks noGrp="1"/>
          </p:cNvSpPr>
          <p:nvPr>
            <p:ph type="title"/>
          </p:nvPr>
        </p:nvSpPr>
        <p:spPr/>
        <p:txBody>
          <a:bodyPr>
            <a:normAutofit fontScale="90000"/>
          </a:bodyPr>
          <a:lstStyle/>
          <a:p>
            <a:r>
              <a:rPr lang="pt-BR" dirty="0" err="1"/>
              <a:t>Problem</a:t>
            </a:r>
            <a:r>
              <a:rPr lang="pt-BR" dirty="0"/>
              <a:t> 1 - </a:t>
            </a:r>
            <a:r>
              <a:rPr lang="en-US" dirty="0"/>
              <a:t>Stock-outs in E-commerce for Beverages during demand peaks not captured by the model.</a:t>
            </a:r>
            <a:endParaRPr lang="pt-BR" dirty="0"/>
          </a:p>
        </p:txBody>
      </p:sp>
      <p:sp>
        <p:nvSpPr>
          <p:cNvPr id="3" name="Espaço Reservado para Conteúdo 2">
            <a:extLst>
              <a:ext uri="{FF2B5EF4-FFF2-40B4-BE49-F238E27FC236}">
                <a16:creationId xmlns:a16="http://schemas.microsoft.com/office/drawing/2014/main" id="{C3ED838A-47A3-49A8-1F79-739B28191DD3}"/>
              </a:ext>
            </a:extLst>
          </p:cNvPr>
          <p:cNvSpPr>
            <a:spLocks noGrp="1"/>
          </p:cNvSpPr>
          <p:nvPr>
            <p:ph idx="1"/>
          </p:nvPr>
        </p:nvSpPr>
        <p:spPr>
          <a:xfrm>
            <a:off x="749300" y="1978025"/>
            <a:ext cx="10515600" cy="4351338"/>
          </a:xfrm>
        </p:spPr>
        <p:txBody>
          <a:bodyPr/>
          <a:lstStyle/>
          <a:p>
            <a:r>
              <a:rPr lang="pt-BR" b="1" dirty="0"/>
              <a:t>explicação técnica exata e comprovada</a:t>
            </a:r>
            <a:r>
              <a:rPr lang="pt-BR" dirty="0"/>
              <a:t> pra isso: o modelo estruturalmente suaviza a previsão em direção à média porque o sinal disponível é fraco demais pra apostar em picos, e o modo recursivo amplifica esse achatamento a cada passo à frente. Fechar esse gap exigiria uma variável que </a:t>
            </a:r>
            <a:r>
              <a:rPr lang="pt-BR" b="1" dirty="0"/>
              <a:t>avise a chegada do pico</a:t>
            </a:r>
            <a:r>
              <a:rPr lang="pt-BR" dirty="0"/>
              <a:t> (estoque, evento de marketplace, campanha)</a:t>
            </a:r>
          </a:p>
        </p:txBody>
      </p:sp>
    </p:spTree>
    <p:extLst>
      <p:ext uri="{BB962C8B-B14F-4D97-AF65-F5344CB8AC3E}">
        <p14:creationId xmlns:p14="http://schemas.microsoft.com/office/powerpoint/2010/main" val="34071312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3AF17B-57EA-84B8-263F-D4C7E81039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C93B13B-DAFB-B162-F0DE-9185077591A3}"/>
              </a:ext>
            </a:extLst>
          </p:cNvPr>
          <p:cNvSpPr>
            <a:spLocks noGrp="1"/>
          </p:cNvSpPr>
          <p:nvPr>
            <p:ph type="title"/>
          </p:nvPr>
        </p:nvSpPr>
        <p:spPr/>
        <p:txBody>
          <a:bodyPr>
            <a:normAutofit fontScale="90000"/>
          </a:bodyPr>
          <a:lstStyle/>
          <a:p>
            <a:r>
              <a:rPr lang="pt-BR" dirty="0" err="1"/>
              <a:t>Problem</a:t>
            </a:r>
            <a:r>
              <a:rPr lang="pt-BR" dirty="0"/>
              <a:t> 1 - </a:t>
            </a:r>
            <a:r>
              <a:rPr lang="en-US" dirty="0"/>
              <a:t>Stock-outs in E-commerce for Beverages during demand peaks not captured by the model.</a:t>
            </a:r>
            <a:endParaRPr lang="pt-BR" dirty="0"/>
          </a:p>
        </p:txBody>
      </p:sp>
      <p:pic>
        <p:nvPicPr>
          <p:cNvPr id="7" name="Imagem 6">
            <a:extLst>
              <a:ext uri="{FF2B5EF4-FFF2-40B4-BE49-F238E27FC236}">
                <a16:creationId xmlns:a16="http://schemas.microsoft.com/office/drawing/2014/main" id="{AF68273F-17F6-AEB6-8DFC-70C1DED14454}"/>
              </a:ext>
            </a:extLst>
          </p:cNvPr>
          <p:cNvPicPr>
            <a:picLocks noChangeAspect="1"/>
          </p:cNvPicPr>
          <p:nvPr/>
        </p:nvPicPr>
        <p:blipFill>
          <a:blip r:embed="rId2"/>
          <a:srcRect b="50219"/>
          <a:stretch>
            <a:fillRect/>
          </a:stretch>
        </p:blipFill>
        <p:spPr>
          <a:xfrm>
            <a:off x="424511" y="1894406"/>
            <a:ext cx="11342977" cy="4701582"/>
          </a:xfrm>
          <a:prstGeom prst="rect">
            <a:avLst/>
          </a:prstGeom>
        </p:spPr>
      </p:pic>
    </p:spTree>
    <p:extLst>
      <p:ext uri="{BB962C8B-B14F-4D97-AF65-F5344CB8AC3E}">
        <p14:creationId xmlns:p14="http://schemas.microsoft.com/office/powerpoint/2010/main" val="9484578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ACE0D4-BF4C-20DD-1932-7FCB52B6D71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1416CE3-1719-4512-FB1A-BABE6594CD61}"/>
              </a:ext>
            </a:extLst>
          </p:cNvPr>
          <p:cNvSpPr>
            <a:spLocks noGrp="1"/>
          </p:cNvSpPr>
          <p:nvPr>
            <p:ph type="title"/>
          </p:nvPr>
        </p:nvSpPr>
        <p:spPr/>
        <p:txBody>
          <a:bodyPr>
            <a:normAutofit fontScale="90000"/>
          </a:bodyPr>
          <a:lstStyle/>
          <a:p>
            <a:r>
              <a:rPr lang="pt-BR" dirty="0" err="1"/>
              <a:t>Problem</a:t>
            </a:r>
            <a:r>
              <a:rPr lang="pt-BR" dirty="0"/>
              <a:t> 1 - </a:t>
            </a:r>
            <a:r>
              <a:rPr lang="en-US" dirty="0"/>
              <a:t>Stock-outs in E-commerce for Beverages during demand peaks not captured by the model.</a:t>
            </a:r>
            <a:endParaRPr lang="pt-BR" dirty="0"/>
          </a:p>
        </p:txBody>
      </p:sp>
      <p:pic>
        <p:nvPicPr>
          <p:cNvPr id="4" name="Imagem 3">
            <a:extLst>
              <a:ext uri="{FF2B5EF4-FFF2-40B4-BE49-F238E27FC236}">
                <a16:creationId xmlns:a16="http://schemas.microsoft.com/office/drawing/2014/main" id="{A90B628C-2BAE-F267-A912-4B7C6CFE4CA6}"/>
              </a:ext>
            </a:extLst>
          </p:cNvPr>
          <p:cNvPicPr>
            <a:picLocks noChangeAspect="1"/>
          </p:cNvPicPr>
          <p:nvPr/>
        </p:nvPicPr>
        <p:blipFill>
          <a:blip r:embed="rId2"/>
          <a:srcRect t="50000"/>
          <a:stretch>
            <a:fillRect/>
          </a:stretch>
        </p:blipFill>
        <p:spPr>
          <a:xfrm>
            <a:off x="838200" y="1904999"/>
            <a:ext cx="10515600" cy="4377815"/>
          </a:xfrm>
          <a:prstGeom prst="rect">
            <a:avLst/>
          </a:prstGeom>
        </p:spPr>
      </p:pic>
    </p:spTree>
    <p:extLst>
      <p:ext uri="{BB962C8B-B14F-4D97-AF65-F5344CB8AC3E}">
        <p14:creationId xmlns:p14="http://schemas.microsoft.com/office/powerpoint/2010/main" val="4232832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94BB5-F3ED-6C1E-0089-84A4ABC528A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1142185-714B-30B4-DDD6-E0B217A207C3}"/>
              </a:ext>
            </a:extLst>
          </p:cNvPr>
          <p:cNvSpPr>
            <a:spLocks noGrp="1"/>
          </p:cNvSpPr>
          <p:nvPr>
            <p:ph type="title"/>
          </p:nvPr>
        </p:nvSpPr>
        <p:spPr/>
        <p:txBody>
          <a:bodyPr/>
          <a:lstStyle/>
          <a:p>
            <a:r>
              <a:rPr lang="pt-BR" dirty="0" err="1"/>
              <a:t>Changing</a:t>
            </a:r>
            <a:r>
              <a:rPr lang="pt-BR" dirty="0"/>
              <a:t> </a:t>
            </a:r>
            <a:r>
              <a:rPr lang="pt-BR" dirty="0" err="1"/>
              <a:t>the</a:t>
            </a:r>
            <a:r>
              <a:rPr lang="pt-BR" dirty="0"/>
              <a:t> </a:t>
            </a:r>
            <a:r>
              <a:rPr lang="pt-BR" dirty="0" err="1"/>
              <a:t>Accuracy</a:t>
            </a:r>
            <a:r>
              <a:rPr lang="pt-BR" dirty="0"/>
              <a:t> </a:t>
            </a:r>
            <a:r>
              <a:rPr lang="pt-BR" dirty="0" err="1"/>
              <a:t>method</a:t>
            </a:r>
            <a:endParaRPr lang="pt-BR" dirty="0"/>
          </a:p>
        </p:txBody>
      </p:sp>
      <p:sp>
        <p:nvSpPr>
          <p:cNvPr id="3" name="Espaço Reservado para Conteúdo 2">
            <a:extLst>
              <a:ext uri="{FF2B5EF4-FFF2-40B4-BE49-F238E27FC236}">
                <a16:creationId xmlns:a16="http://schemas.microsoft.com/office/drawing/2014/main" id="{47976EF0-9B83-60D1-470B-148C97945239}"/>
              </a:ext>
            </a:extLst>
          </p:cNvPr>
          <p:cNvSpPr>
            <a:spLocks noGrp="1"/>
          </p:cNvSpPr>
          <p:nvPr>
            <p:ph idx="1"/>
          </p:nvPr>
        </p:nvSpPr>
        <p:spPr/>
        <p:txBody>
          <a:bodyPr/>
          <a:lstStyle/>
          <a:p>
            <a:r>
              <a:rPr lang="pt-BR" dirty="0"/>
              <a:t>"Nossa métrica original tratava um pequeno erro numa semana de venda baixa com o mesmo peso de um erro grande numa semana de pico. Corrigindo isso para pesar pelo volume real vendido, os dois produtos que pareciam ter problema saem da faixa negativa para uma faixa de desempenho normal."</a:t>
            </a:r>
          </a:p>
        </p:txBody>
      </p:sp>
    </p:spTree>
    <p:extLst>
      <p:ext uri="{BB962C8B-B14F-4D97-AF65-F5344CB8AC3E}">
        <p14:creationId xmlns:p14="http://schemas.microsoft.com/office/powerpoint/2010/main" val="17737929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1EAC34-CD51-5359-9E28-1E3314C969E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8A07F56-26AE-E6F4-C953-0DB82B649C87}"/>
              </a:ext>
            </a:extLst>
          </p:cNvPr>
          <p:cNvSpPr>
            <a:spLocks noGrp="1"/>
          </p:cNvSpPr>
          <p:nvPr>
            <p:ph type="title"/>
          </p:nvPr>
        </p:nvSpPr>
        <p:spPr/>
        <p:txBody>
          <a:bodyPr/>
          <a:lstStyle/>
          <a:p>
            <a:r>
              <a:rPr lang="pt-BR" dirty="0" err="1"/>
              <a:t>Problematic</a:t>
            </a:r>
            <a:r>
              <a:rPr lang="pt-BR" dirty="0"/>
              <a:t> Cases in e-Commerce:</a:t>
            </a:r>
          </a:p>
        </p:txBody>
      </p:sp>
      <p:sp>
        <p:nvSpPr>
          <p:cNvPr id="3" name="Espaço Reservado para Conteúdo 2">
            <a:extLst>
              <a:ext uri="{FF2B5EF4-FFF2-40B4-BE49-F238E27FC236}">
                <a16:creationId xmlns:a16="http://schemas.microsoft.com/office/drawing/2014/main" id="{E58C84BE-7DB1-D01E-FB94-4B740DA13E6E}"/>
              </a:ext>
            </a:extLst>
          </p:cNvPr>
          <p:cNvSpPr>
            <a:spLocks noGrp="1"/>
          </p:cNvSpPr>
          <p:nvPr>
            <p:ph idx="1"/>
          </p:nvPr>
        </p:nvSpPr>
        <p:spPr/>
        <p:txBody>
          <a:bodyPr/>
          <a:lstStyle/>
          <a:p>
            <a:endParaRPr lang="pt-BR" dirty="0"/>
          </a:p>
        </p:txBody>
      </p:sp>
    </p:spTree>
    <p:extLst>
      <p:ext uri="{BB962C8B-B14F-4D97-AF65-F5344CB8AC3E}">
        <p14:creationId xmlns:p14="http://schemas.microsoft.com/office/powerpoint/2010/main" val="26936603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0EDED7-164D-37D7-AF4E-592D5EF40958}"/>
              </a:ext>
            </a:extLst>
          </p:cNvPr>
          <p:cNvSpPr>
            <a:spLocks noGrp="1"/>
          </p:cNvSpPr>
          <p:nvPr>
            <p:ph type="title"/>
          </p:nvPr>
        </p:nvSpPr>
        <p:spPr/>
        <p:txBody>
          <a:bodyPr>
            <a:normAutofit/>
          </a:bodyPr>
          <a:lstStyle/>
          <a:p>
            <a:r>
              <a:rPr lang="pt-BR" b="1" dirty="0">
                <a:solidFill>
                  <a:schemeClr val="bg1"/>
                </a:solidFill>
              </a:rPr>
              <a:t>Correção de métrica: MAPE </a:t>
            </a:r>
            <a:r>
              <a:rPr lang="pt-BR" b="1" dirty="0" err="1">
                <a:solidFill>
                  <a:schemeClr val="bg1"/>
                </a:solidFill>
              </a:rPr>
              <a:t>vs</a:t>
            </a:r>
            <a:r>
              <a:rPr lang="pt-BR" b="1" dirty="0">
                <a:solidFill>
                  <a:schemeClr val="bg1"/>
                </a:solidFill>
              </a:rPr>
              <a:t> WAPE</a:t>
            </a:r>
            <a:endParaRPr lang="pt-BR" dirty="0">
              <a:solidFill>
                <a:schemeClr val="bg1"/>
              </a:solidFill>
            </a:endParaRPr>
          </a:p>
        </p:txBody>
      </p:sp>
      <p:pic>
        <p:nvPicPr>
          <p:cNvPr id="11" name="Imagem 10">
            <a:extLst>
              <a:ext uri="{FF2B5EF4-FFF2-40B4-BE49-F238E27FC236}">
                <a16:creationId xmlns:a16="http://schemas.microsoft.com/office/drawing/2014/main" id="{93B8F91A-1EDB-880A-4A2B-C08CA0D412B9}"/>
              </a:ext>
            </a:extLst>
          </p:cNvPr>
          <p:cNvPicPr>
            <a:picLocks noChangeAspect="1"/>
          </p:cNvPicPr>
          <p:nvPr/>
        </p:nvPicPr>
        <p:blipFill>
          <a:blip r:embed="rId2"/>
          <a:stretch>
            <a:fillRect/>
          </a:stretch>
        </p:blipFill>
        <p:spPr>
          <a:xfrm>
            <a:off x="2833232" y="1690688"/>
            <a:ext cx="6525536" cy="4601217"/>
          </a:xfrm>
          <a:prstGeom prst="rect">
            <a:avLst/>
          </a:prstGeom>
        </p:spPr>
      </p:pic>
    </p:spTree>
    <p:extLst>
      <p:ext uri="{BB962C8B-B14F-4D97-AF65-F5344CB8AC3E}">
        <p14:creationId xmlns:p14="http://schemas.microsoft.com/office/powerpoint/2010/main" val="6471308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93AE0BE-DB84-EAFD-2CB6-87EA52298337}"/>
              </a:ext>
            </a:extLst>
          </p:cNvPr>
          <p:cNvSpPr>
            <a:spLocks noGrp="1"/>
          </p:cNvSpPr>
          <p:nvPr>
            <p:ph type="title"/>
          </p:nvPr>
        </p:nvSpPr>
        <p:spPr/>
        <p:txBody>
          <a:bodyPr/>
          <a:lstStyle/>
          <a:p>
            <a:r>
              <a:rPr lang="pt-BR" dirty="0" err="1"/>
              <a:t>Changing</a:t>
            </a:r>
            <a:r>
              <a:rPr lang="pt-BR" dirty="0"/>
              <a:t> </a:t>
            </a:r>
            <a:r>
              <a:rPr lang="pt-BR" dirty="0" err="1"/>
              <a:t>the</a:t>
            </a:r>
            <a:r>
              <a:rPr lang="pt-BR" dirty="0"/>
              <a:t> </a:t>
            </a:r>
            <a:r>
              <a:rPr lang="pt-BR" dirty="0" err="1"/>
              <a:t>Accuracy</a:t>
            </a:r>
            <a:r>
              <a:rPr lang="pt-BR" dirty="0"/>
              <a:t> </a:t>
            </a:r>
            <a:r>
              <a:rPr lang="pt-BR" dirty="0" err="1"/>
              <a:t>method</a:t>
            </a:r>
            <a:endParaRPr lang="pt-BR" dirty="0"/>
          </a:p>
        </p:txBody>
      </p:sp>
      <p:sp>
        <p:nvSpPr>
          <p:cNvPr id="3" name="Espaço Reservado para Conteúdo 2">
            <a:extLst>
              <a:ext uri="{FF2B5EF4-FFF2-40B4-BE49-F238E27FC236}">
                <a16:creationId xmlns:a16="http://schemas.microsoft.com/office/drawing/2014/main" id="{183D9185-A619-5804-741F-C7927475A9B2}"/>
              </a:ext>
            </a:extLst>
          </p:cNvPr>
          <p:cNvSpPr>
            <a:spLocks noGrp="1"/>
          </p:cNvSpPr>
          <p:nvPr>
            <p:ph idx="1"/>
          </p:nvPr>
        </p:nvSpPr>
        <p:spPr/>
        <p:txBody>
          <a:bodyPr/>
          <a:lstStyle/>
          <a:p>
            <a:endParaRPr lang="pt-BR" dirty="0"/>
          </a:p>
        </p:txBody>
      </p:sp>
      <p:pic>
        <p:nvPicPr>
          <p:cNvPr id="5" name="Imagem 4">
            <a:extLst>
              <a:ext uri="{FF2B5EF4-FFF2-40B4-BE49-F238E27FC236}">
                <a16:creationId xmlns:a16="http://schemas.microsoft.com/office/drawing/2014/main" id="{2603AAD2-16D1-5627-B8E7-0819D558307E}"/>
              </a:ext>
            </a:extLst>
          </p:cNvPr>
          <p:cNvPicPr>
            <a:picLocks noChangeAspect="1"/>
          </p:cNvPicPr>
          <p:nvPr/>
        </p:nvPicPr>
        <p:blipFill>
          <a:blip r:embed="rId2"/>
          <a:stretch>
            <a:fillRect/>
          </a:stretch>
        </p:blipFill>
        <p:spPr>
          <a:xfrm>
            <a:off x="956772" y="2224398"/>
            <a:ext cx="10035037" cy="3553792"/>
          </a:xfrm>
          <a:prstGeom prst="rect">
            <a:avLst/>
          </a:prstGeom>
        </p:spPr>
      </p:pic>
    </p:spTree>
    <p:extLst>
      <p:ext uri="{BB962C8B-B14F-4D97-AF65-F5344CB8AC3E}">
        <p14:creationId xmlns:p14="http://schemas.microsoft.com/office/powerpoint/2010/main" val="40145338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2A7EC-31CF-E96B-A7C6-E14F1F0D040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221B1B0-9760-8E2F-EAFD-550AB5B3B1DE}"/>
              </a:ext>
            </a:extLst>
          </p:cNvPr>
          <p:cNvSpPr>
            <a:spLocks noGrp="1"/>
          </p:cNvSpPr>
          <p:nvPr>
            <p:ph type="title"/>
          </p:nvPr>
        </p:nvSpPr>
        <p:spPr/>
        <p:txBody>
          <a:bodyPr/>
          <a:lstStyle/>
          <a:p>
            <a:r>
              <a:rPr lang="pt-BR" dirty="0"/>
              <a:t>4 </a:t>
            </a:r>
            <a:r>
              <a:rPr lang="pt-BR" dirty="0" err="1"/>
              <a:t>Problematic</a:t>
            </a:r>
            <a:r>
              <a:rPr lang="pt-BR" dirty="0"/>
              <a:t> cases </a:t>
            </a:r>
            <a:r>
              <a:rPr lang="pt-BR" dirty="0" err="1"/>
              <a:t>with</a:t>
            </a:r>
            <a:r>
              <a:rPr lang="pt-BR" dirty="0"/>
              <a:t> </a:t>
            </a:r>
            <a:r>
              <a:rPr lang="pt-BR" dirty="0" err="1"/>
              <a:t>Beverages</a:t>
            </a:r>
            <a:endParaRPr lang="pt-BR" dirty="0"/>
          </a:p>
        </p:txBody>
      </p:sp>
      <p:sp>
        <p:nvSpPr>
          <p:cNvPr id="3" name="Espaço Reservado para Conteúdo 2">
            <a:extLst>
              <a:ext uri="{FF2B5EF4-FFF2-40B4-BE49-F238E27FC236}">
                <a16:creationId xmlns:a16="http://schemas.microsoft.com/office/drawing/2014/main" id="{DA28BE09-AC24-52B2-05C9-263DA98C98C4}"/>
              </a:ext>
            </a:extLst>
          </p:cNvPr>
          <p:cNvSpPr>
            <a:spLocks noGrp="1"/>
          </p:cNvSpPr>
          <p:nvPr>
            <p:ph idx="1"/>
          </p:nvPr>
        </p:nvSpPr>
        <p:spPr/>
        <p:txBody>
          <a:bodyPr>
            <a:normAutofit fontScale="92500" lnSpcReduction="10000"/>
          </a:bodyPr>
          <a:lstStyle/>
          <a:p>
            <a:r>
              <a:rPr lang="en-US" dirty="0" err="1"/>
              <a:t>Além</a:t>
            </a:r>
            <a:r>
              <a:rPr lang="en-US" dirty="0"/>
              <a:t> de </a:t>
            </a:r>
            <a:r>
              <a:rPr lang="en-US" dirty="0" err="1"/>
              <a:t>temperatura</a:t>
            </a:r>
            <a:r>
              <a:rPr lang="en-US" dirty="0"/>
              <a:t> (</a:t>
            </a:r>
            <a:r>
              <a:rPr lang="en-US" dirty="0" err="1"/>
              <a:t>hipótese</a:t>
            </a:r>
            <a:r>
              <a:rPr lang="en-US" dirty="0"/>
              <a:t> forte </a:t>
            </a:r>
            <a:r>
              <a:rPr lang="en-US" dirty="0" err="1"/>
              <a:t>pra</a:t>
            </a:r>
            <a:r>
              <a:rPr lang="en-US" dirty="0"/>
              <a:t> </a:t>
            </a:r>
            <a:r>
              <a:rPr lang="en-US" dirty="0" err="1"/>
              <a:t>bebidas</a:t>
            </a:r>
            <a:r>
              <a:rPr lang="en-US" dirty="0"/>
              <a:t> geladas, </a:t>
            </a:r>
            <a:r>
              <a:rPr lang="en-US" dirty="0" err="1"/>
              <a:t>não</a:t>
            </a:r>
            <a:r>
              <a:rPr lang="en-US" dirty="0"/>
              <a:t> </a:t>
            </a:r>
            <a:r>
              <a:rPr lang="en-US" dirty="0" err="1"/>
              <a:t>testável</a:t>
            </a:r>
            <a:r>
              <a:rPr lang="en-US" dirty="0"/>
              <a:t> com o dataset </a:t>
            </a:r>
            <a:r>
              <a:rPr lang="en-US" dirty="0" err="1"/>
              <a:t>atual</a:t>
            </a:r>
            <a:r>
              <a:rPr lang="en-US" dirty="0"/>
              <a:t>), </a:t>
            </a:r>
            <a:r>
              <a:rPr lang="en-US" dirty="0" err="1"/>
              <a:t>recomendamos</a:t>
            </a:r>
            <a:r>
              <a:rPr lang="en-US" dirty="0"/>
              <a:t> </a:t>
            </a:r>
            <a:r>
              <a:rPr lang="en-US" dirty="0" err="1"/>
              <a:t>uma</a:t>
            </a:r>
            <a:r>
              <a:rPr lang="en-US" dirty="0"/>
              <a:t> </a:t>
            </a:r>
            <a:r>
              <a:rPr lang="en-US" dirty="0" err="1"/>
              <a:t>investigação</a:t>
            </a:r>
            <a:r>
              <a:rPr lang="en-US" dirty="0"/>
              <a:t> </a:t>
            </a:r>
            <a:r>
              <a:rPr lang="en-US" dirty="0" err="1"/>
              <a:t>mais</a:t>
            </a:r>
            <a:r>
              <a:rPr lang="en-US" dirty="0"/>
              <a:t> </a:t>
            </a:r>
            <a:r>
              <a:rPr lang="en-US" dirty="0" err="1"/>
              <a:t>ampla</a:t>
            </a:r>
            <a:r>
              <a:rPr lang="en-US" dirty="0"/>
              <a:t> de </a:t>
            </a:r>
            <a:r>
              <a:rPr lang="en-US" dirty="0" err="1"/>
              <a:t>fatores</a:t>
            </a:r>
            <a:r>
              <a:rPr lang="en-US" dirty="0"/>
              <a:t> </a:t>
            </a:r>
            <a:r>
              <a:rPr lang="en-US" dirty="0" err="1"/>
              <a:t>externos</a:t>
            </a:r>
            <a:r>
              <a:rPr lang="en-US" dirty="0"/>
              <a:t> </a:t>
            </a:r>
            <a:r>
              <a:rPr lang="en-US" dirty="0" err="1"/>
              <a:t>que</a:t>
            </a:r>
            <a:r>
              <a:rPr lang="en-US" dirty="0"/>
              <a:t> </a:t>
            </a:r>
            <a:r>
              <a:rPr lang="en-US" dirty="0" err="1"/>
              <a:t>possam</a:t>
            </a:r>
            <a:r>
              <a:rPr lang="en-US" dirty="0"/>
              <a:t> </a:t>
            </a:r>
            <a:r>
              <a:rPr lang="en-US" dirty="0" err="1"/>
              <a:t>explicar</a:t>
            </a:r>
            <a:r>
              <a:rPr lang="en-US" dirty="0"/>
              <a:t> </a:t>
            </a:r>
            <a:r>
              <a:rPr lang="en-US" dirty="0" err="1"/>
              <a:t>os</a:t>
            </a:r>
            <a:r>
              <a:rPr lang="en-US" dirty="0"/>
              <a:t> </a:t>
            </a:r>
            <a:r>
              <a:rPr lang="en-US" dirty="0" err="1"/>
              <a:t>picos</a:t>
            </a:r>
            <a:r>
              <a:rPr lang="en-US" dirty="0"/>
              <a:t> e vales de </a:t>
            </a:r>
            <a:r>
              <a:rPr lang="en-US" dirty="0" err="1"/>
              <a:t>demanda</a:t>
            </a:r>
            <a:r>
              <a:rPr lang="en-US" dirty="0"/>
              <a:t> </a:t>
            </a:r>
            <a:r>
              <a:rPr lang="en-US" dirty="0" err="1"/>
              <a:t>desses</a:t>
            </a:r>
            <a:r>
              <a:rPr lang="en-US" dirty="0"/>
              <a:t> </a:t>
            </a:r>
            <a:r>
              <a:rPr lang="en-US" dirty="0" err="1"/>
              <a:t>produtos</a:t>
            </a:r>
            <a:r>
              <a:rPr lang="en-US" dirty="0"/>
              <a:t> — </a:t>
            </a:r>
            <a:r>
              <a:rPr lang="en-US" dirty="0" err="1"/>
              <a:t>incluindo</a:t>
            </a:r>
            <a:r>
              <a:rPr lang="en-US" dirty="0"/>
              <a:t>, mas </a:t>
            </a:r>
            <a:r>
              <a:rPr lang="en-US" dirty="0" err="1"/>
              <a:t>não</a:t>
            </a:r>
            <a:r>
              <a:rPr lang="en-US" dirty="0"/>
              <a:t> se </a:t>
            </a:r>
            <a:r>
              <a:rPr lang="en-US" dirty="0" err="1"/>
              <a:t>limitando</a:t>
            </a:r>
            <a:r>
              <a:rPr lang="en-US" dirty="0"/>
              <a:t> a: </a:t>
            </a:r>
            <a:r>
              <a:rPr lang="en-US" dirty="0" err="1"/>
              <a:t>dinâmica</a:t>
            </a:r>
            <a:r>
              <a:rPr lang="en-US" dirty="0"/>
              <a:t> de marketplace (</a:t>
            </a:r>
            <a:r>
              <a:rPr lang="en-US" dirty="0" err="1"/>
              <a:t>precificação</a:t>
            </a:r>
            <a:r>
              <a:rPr lang="en-US" dirty="0"/>
              <a:t> </a:t>
            </a:r>
            <a:r>
              <a:rPr lang="en-US" dirty="0" err="1"/>
              <a:t>algorítmica</a:t>
            </a:r>
            <a:r>
              <a:rPr lang="en-US" dirty="0"/>
              <a:t> de </a:t>
            </a:r>
            <a:r>
              <a:rPr lang="en-US" dirty="0" err="1"/>
              <a:t>terceiros</a:t>
            </a:r>
            <a:r>
              <a:rPr lang="en-US" dirty="0"/>
              <a:t>, </a:t>
            </a:r>
            <a:r>
              <a:rPr lang="en-US" dirty="0" err="1"/>
              <a:t>mencionada</a:t>
            </a:r>
            <a:r>
              <a:rPr lang="en-US" dirty="0"/>
              <a:t> </a:t>
            </a:r>
            <a:r>
              <a:rPr lang="en-US" dirty="0" err="1"/>
              <a:t>na</a:t>
            </a:r>
            <a:r>
              <a:rPr lang="en-US" dirty="0"/>
              <a:t> </a:t>
            </a:r>
            <a:r>
              <a:rPr lang="en-US" dirty="0" err="1"/>
              <a:t>própria</a:t>
            </a:r>
            <a:r>
              <a:rPr lang="en-US" dirty="0"/>
              <a:t> </a:t>
            </a:r>
            <a:r>
              <a:rPr lang="en-US" dirty="0" err="1"/>
              <a:t>descrição</a:t>
            </a:r>
            <a:r>
              <a:rPr lang="en-US" dirty="0"/>
              <a:t> do canal E-commerce no case), </a:t>
            </a:r>
            <a:r>
              <a:rPr lang="en-US" dirty="0" err="1"/>
              <a:t>eventos</a:t>
            </a:r>
            <a:r>
              <a:rPr lang="en-US" dirty="0"/>
              <a:t> de </a:t>
            </a:r>
            <a:r>
              <a:rPr lang="en-US" dirty="0" err="1"/>
              <a:t>calendário</a:t>
            </a:r>
            <a:r>
              <a:rPr lang="en-US" dirty="0"/>
              <a:t> regional, e </a:t>
            </a:r>
            <a:r>
              <a:rPr lang="en-US" dirty="0" err="1"/>
              <a:t>possíveis</a:t>
            </a:r>
            <a:r>
              <a:rPr lang="en-US" dirty="0"/>
              <a:t> </a:t>
            </a:r>
            <a:r>
              <a:rPr lang="en-US" dirty="0" err="1"/>
              <a:t>efeitos</a:t>
            </a:r>
            <a:r>
              <a:rPr lang="en-US" dirty="0"/>
              <a:t> cruzados com </a:t>
            </a:r>
            <a:r>
              <a:rPr lang="en-US" dirty="0" err="1"/>
              <a:t>produtos</a:t>
            </a:r>
            <a:r>
              <a:rPr lang="en-US" dirty="0"/>
              <a:t> </a:t>
            </a:r>
            <a:r>
              <a:rPr lang="en-US" dirty="0" err="1"/>
              <a:t>concorrentes</a:t>
            </a:r>
            <a:r>
              <a:rPr lang="en-US" dirty="0"/>
              <a:t> fora do </a:t>
            </a:r>
            <a:r>
              <a:rPr lang="en-US" dirty="0" err="1"/>
              <a:t>portfólio</a:t>
            </a:r>
            <a:r>
              <a:rPr lang="en-US" dirty="0"/>
              <a:t> da </a:t>
            </a:r>
            <a:r>
              <a:rPr lang="en-US" dirty="0" err="1"/>
              <a:t>RetailCo</a:t>
            </a:r>
            <a:r>
              <a:rPr lang="en-US" dirty="0"/>
              <a:t>. A </a:t>
            </a:r>
            <a:r>
              <a:rPr lang="en-US" dirty="0" err="1"/>
              <a:t>prática</a:t>
            </a:r>
            <a:r>
              <a:rPr lang="en-US" dirty="0"/>
              <a:t> </a:t>
            </a:r>
            <a:r>
              <a:rPr lang="en-US" dirty="0" err="1"/>
              <a:t>recomendada</a:t>
            </a:r>
            <a:r>
              <a:rPr lang="en-US" dirty="0"/>
              <a:t> é formular </a:t>
            </a:r>
            <a:r>
              <a:rPr lang="en-US" dirty="0" err="1"/>
              <a:t>hipóteses</a:t>
            </a:r>
            <a:r>
              <a:rPr lang="en-US" dirty="0"/>
              <a:t> de </a:t>
            </a:r>
            <a:r>
              <a:rPr lang="en-US" dirty="0" err="1"/>
              <a:t>negócio</a:t>
            </a:r>
            <a:r>
              <a:rPr lang="en-US" dirty="0"/>
              <a:t> </a:t>
            </a:r>
            <a:r>
              <a:rPr lang="en-US" dirty="0" err="1"/>
              <a:t>primeiro</a:t>
            </a:r>
            <a:r>
              <a:rPr lang="en-US" dirty="0"/>
              <a:t>, </a:t>
            </a:r>
            <a:r>
              <a:rPr lang="en-US" dirty="0" err="1"/>
              <a:t>testar</a:t>
            </a:r>
            <a:r>
              <a:rPr lang="en-US" dirty="0"/>
              <a:t> </a:t>
            </a:r>
            <a:r>
              <a:rPr lang="en-US" dirty="0" err="1"/>
              <a:t>cada</a:t>
            </a:r>
            <a:r>
              <a:rPr lang="en-US" dirty="0"/>
              <a:t> </a:t>
            </a:r>
            <a:r>
              <a:rPr lang="en-US" dirty="0" err="1"/>
              <a:t>uma</a:t>
            </a:r>
            <a:r>
              <a:rPr lang="en-US" dirty="0"/>
              <a:t> com o dado </a:t>
            </a:r>
            <a:r>
              <a:rPr lang="en-US" dirty="0" err="1"/>
              <a:t>disponível</a:t>
            </a:r>
            <a:r>
              <a:rPr lang="en-US" dirty="0"/>
              <a:t>, e </a:t>
            </a:r>
            <a:r>
              <a:rPr lang="en-US" dirty="0" err="1"/>
              <a:t>só</a:t>
            </a:r>
            <a:r>
              <a:rPr lang="en-US" dirty="0"/>
              <a:t> </a:t>
            </a:r>
            <a:r>
              <a:rPr lang="en-US" dirty="0" err="1"/>
              <a:t>então</a:t>
            </a:r>
            <a:r>
              <a:rPr lang="en-US" dirty="0"/>
              <a:t> </a:t>
            </a:r>
            <a:r>
              <a:rPr lang="en-US" dirty="0" err="1"/>
              <a:t>buscar</a:t>
            </a:r>
            <a:r>
              <a:rPr lang="en-US" dirty="0"/>
              <a:t>/</a:t>
            </a:r>
            <a:r>
              <a:rPr lang="en-US" dirty="0" err="1"/>
              <a:t>priorizar</a:t>
            </a:r>
            <a:r>
              <a:rPr lang="en-US" dirty="0"/>
              <a:t> a coleta da </a:t>
            </a:r>
            <a:r>
              <a:rPr lang="en-US" dirty="0" err="1"/>
              <a:t>variável</a:t>
            </a:r>
            <a:r>
              <a:rPr lang="en-US" dirty="0"/>
              <a:t> </a:t>
            </a:r>
            <a:r>
              <a:rPr lang="en-US" dirty="0" err="1"/>
              <a:t>específica</a:t>
            </a:r>
            <a:r>
              <a:rPr lang="en-US" dirty="0"/>
              <a:t> </a:t>
            </a:r>
            <a:r>
              <a:rPr lang="en-US" dirty="0" err="1"/>
              <a:t>que</a:t>
            </a:r>
            <a:r>
              <a:rPr lang="en-US" dirty="0"/>
              <a:t> </a:t>
            </a:r>
            <a:r>
              <a:rPr lang="en-US" dirty="0" err="1"/>
              <a:t>sobreviveu</a:t>
            </a:r>
            <a:r>
              <a:rPr lang="en-US" dirty="0"/>
              <a:t> </a:t>
            </a:r>
            <a:r>
              <a:rPr lang="en-US" dirty="0" err="1"/>
              <a:t>ao</a:t>
            </a:r>
            <a:r>
              <a:rPr lang="en-US" dirty="0"/>
              <a:t> teste — </a:t>
            </a:r>
            <a:r>
              <a:rPr lang="en-US" dirty="0" err="1"/>
              <a:t>evitando</a:t>
            </a:r>
            <a:r>
              <a:rPr lang="en-US" dirty="0"/>
              <a:t> </a:t>
            </a:r>
            <a:r>
              <a:rPr lang="en-US" dirty="0" err="1"/>
              <a:t>adicionar</a:t>
            </a:r>
            <a:r>
              <a:rPr lang="en-US" dirty="0"/>
              <a:t> dado novo </a:t>
            </a:r>
            <a:r>
              <a:rPr lang="en-US" dirty="0" err="1"/>
              <a:t>sem</a:t>
            </a:r>
            <a:r>
              <a:rPr lang="en-US" dirty="0"/>
              <a:t> </a:t>
            </a:r>
            <a:r>
              <a:rPr lang="en-US" dirty="0" err="1"/>
              <a:t>direção</a:t>
            </a:r>
            <a:r>
              <a:rPr lang="en-US" dirty="0"/>
              <a:t> </a:t>
            </a:r>
            <a:r>
              <a:rPr lang="en-US" dirty="0" err="1"/>
              <a:t>clara</a:t>
            </a:r>
            <a:r>
              <a:rPr lang="en-US" dirty="0"/>
              <a:t>, o </a:t>
            </a:r>
            <a:r>
              <a:rPr lang="en-US" dirty="0" err="1"/>
              <a:t>que</a:t>
            </a:r>
            <a:r>
              <a:rPr lang="en-US" dirty="0"/>
              <a:t> </a:t>
            </a:r>
            <a:r>
              <a:rPr lang="en-US" dirty="0" err="1"/>
              <a:t>aumenta</a:t>
            </a:r>
            <a:r>
              <a:rPr lang="en-US" dirty="0"/>
              <a:t> </a:t>
            </a:r>
            <a:r>
              <a:rPr lang="en-US" dirty="0" err="1"/>
              <a:t>risco</a:t>
            </a:r>
            <a:r>
              <a:rPr lang="en-US" dirty="0"/>
              <a:t> de overfitting dado o volume histórico </a:t>
            </a:r>
            <a:r>
              <a:rPr lang="en-US" dirty="0" err="1"/>
              <a:t>limitado</a:t>
            </a:r>
            <a:r>
              <a:rPr lang="en-US" dirty="0"/>
              <a:t> (~130-150 </a:t>
            </a:r>
            <a:r>
              <a:rPr lang="en-US" dirty="0" err="1"/>
              <a:t>semanas</a:t>
            </a:r>
            <a:r>
              <a:rPr lang="en-US" dirty="0"/>
              <a:t> </a:t>
            </a:r>
            <a:r>
              <a:rPr lang="en-US" dirty="0" err="1"/>
              <a:t>por</a:t>
            </a:r>
            <a:r>
              <a:rPr lang="en-US" dirty="0"/>
              <a:t> SKU-canal)."</a:t>
            </a:r>
            <a:endParaRPr lang="pt-BR" dirty="0"/>
          </a:p>
        </p:txBody>
      </p:sp>
    </p:spTree>
    <p:extLst>
      <p:ext uri="{BB962C8B-B14F-4D97-AF65-F5344CB8AC3E}">
        <p14:creationId xmlns:p14="http://schemas.microsoft.com/office/powerpoint/2010/main" val="146740824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179</TotalTime>
  <Words>1546</Words>
  <Application>Microsoft Office PowerPoint</Application>
  <PresentationFormat>Widescreen</PresentationFormat>
  <Paragraphs>52</Paragraphs>
  <Slides>24</Slides>
  <Notes>1</Notes>
  <HiddenSlides>0</HiddenSlides>
  <MMClips>0</MMClips>
  <ScaleCrop>false</ScaleCrop>
  <HeadingPairs>
    <vt:vector size="6" baseType="variant">
      <vt:variant>
        <vt:lpstr>Fontes usadas</vt:lpstr>
      </vt:variant>
      <vt:variant>
        <vt:i4>3</vt:i4>
      </vt:variant>
      <vt:variant>
        <vt:lpstr>Tema</vt:lpstr>
      </vt:variant>
      <vt:variant>
        <vt:i4>1</vt:i4>
      </vt:variant>
      <vt:variant>
        <vt:lpstr>Títulos de slides</vt:lpstr>
      </vt:variant>
      <vt:variant>
        <vt:i4>24</vt:i4>
      </vt:variant>
    </vt:vector>
  </HeadingPairs>
  <TitlesOfParts>
    <vt:vector size="28" baseType="lpstr">
      <vt:lpstr>Arial</vt:lpstr>
      <vt:lpstr>Calibri</vt:lpstr>
      <vt:lpstr>Calibri Light</vt:lpstr>
      <vt:lpstr>Tema do Office</vt:lpstr>
      <vt:lpstr>Business case</vt:lpstr>
      <vt:lpstr>Priscila Rockenbach Portela Data Scientist</vt:lpstr>
      <vt:lpstr>Executive Summary</vt:lpstr>
      <vt:lpstr>Executive Summary</vt:lpstr>
      <vt:lpstr>Executive Summary</vt:lpstr>
      <vt:lpstr>Question 1 - What is the current status of the forecasting and decomposition system? </vt:lpstr>
      <vt:lpstr>Question 1 - What is the current status of the forecasting and decomposition system? </vt:lpstr>
      <vt:lpstr>Question 1 - What is the current status of the forecasting and decomposition system? </vt:lpstr>
      <vt:lpstr>Question 2 - What can be done to improve the accuracy of the systems? </vt:lpstr>
      <vt:lpstr>Question 2 - What can be done to improve the accuracy of the systems? </vt:lpstr>
      <vt:lpstr>Question 2 - What can be done to improve the accuracy of the systems? </vt:lpstr>
      <vt:lpstr>Question 2 - What can be done to improve the accuracy of the systems? </vt:lpstr>
      <vt:lpstr>Question 3 - How do you ensure that the proposed solutions will work? And to what extent will they resolve the issues?</vt:lpstr>
      <vt:lpstr>Question 4 - What would be the next steps to continue with your plan, quick wins, and risks to consider? </vt:lpstr>
      <vt:lpstr>Question 4 - What would be the next steps to continue with your plan, quick wins, and risks to consider? </vt:lpstr>
      <vt:lpstr>Question 4 - What would be the next steps to continue with your plan, quick wins, and risks to consider? </vt:lpstr>
      <vt:lpstr>Problem 1 - Stock-outs in E-commerce for Beverages during demand peaks not captured by the model.</vt:lpstr>
      <vt:lpstr>Problem 1 - Stock-outs in E-commerce for Beverages during demand peaks not captured by the model.</vt:lpstr>
      <vt:lpstr>Problem 1 - Stock-outs in E-commerce for Beverages during demand peaks not captured by the model.</vt:lpstr>
      <vt:lpstr>Changing the Accuracy method</vt:lpstr>
      <vt:lpstr>Problematic Cases in e-Commerce:</vt:lpstr>
      <vt:lpstr>Correção de métrica: MAPE vs WAPE</vt:lpstr>
      <vt:lpstr>Changing the Accuracy method</vt:lpstr>
      <vt:lpstr>4 Problematic cases with Beverages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Portela, Priscila (Contractor)</dc:creator>
  <cp:lastModifiedBy>Priscila Portela</cp:lastModifiedBy>
  <cp:revision>6</cp:revision>
  <dcterms:created xsi:type="dcterms:W3CDTF">2026-07-18T00:57:30Z</dcterms:created>
  <dcterms:modified xsi:type="dcterms:W3CDTF">2026-07-20T03:24:26Z</dcterms:modified>
</cp:coreProperties>
</file>